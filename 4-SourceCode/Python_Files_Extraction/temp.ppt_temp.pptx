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3"/>
  </p:sldMasterIdLst>
  <p:notesMasterIdLst>
    <p:notesMasterId r:id="rId4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331" r:id="rId18"/>
    <p:sldId id="332" r:id="rId19"/>
    <p:sldId id="333" r:id="rId20"/>
    <p:sldId id="334" r:id="rId21"/>
    <p:sldId id="336" r:id="rId22"/>
    <p:sldId id="335" r:id="rId23"/>
    <p:sldId id="337" r:id="rId24"/>
    <p:sldId id="338" r:id="rId25"/>
    <p:sldId id="278" r:id="rId26"/>
    <p:sldId id="279" r:id="rId27"/>
    <p:sldId id="280" r:id="rId28"/>
    <p:sldId id="302" r:id="rId29"/>
    <p:sldId id="284" r:id="rId30"/>
    <p:sldId id="286" r:id="rId31"/>
    <p:sldId id="287" r:id="rId32"/>
    <p:sldId id="291" r:id="rId33"/>
    <p:sldId id="303" r:id="rId34"/>
    <p:sldId id="293" r:id="rId35"/>
    <p:sldId id="294" r:id="rId36"/>
    <p:sldId id="313" r:id="rId37"/>
    <p:sldId id="314" r:id="rId38"/>
    <p:sldId id="317" r:id="rId39"/>
    <p:sldId id="318" r:id="rId40"/>
    <p:sldId id="319" r:id="rId41"/>
    <p:sldId id="320" r:id="rId42"/>
    <p:sldId id="339" r:id="rId43"/>
    <p:sldId id="340" r:id="rId44"/>
    <p:sldId id="326" r:id="rId45"/>
    <p:sldId id="327" r:id="rId4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3D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90"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customXml" Target="../customXml/item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DA749F-04D2-3222-DD36-E91D09E0FBE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493B4F28-12AF-73C3-BD42-342B8C63B3F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4B50B11-2D37-4D8A-B363-E0993FB9FAE2}" type="datetimeFigureOut">
              <a:rPr lang="en-US"/>
              <a:pPr>
                <a:defRPr/>
              </a:pPr>
              <a:t>12/25/2025</a:t>
            </a:fld>
            <a:endParaRPr lang="en-US"/>
          </a:p>
        </p:txBody>
      </p:sp>
      <p:sp>
        <p:nvSpPr>
          <p:cNvPr id="4" name="Slide Image Placeholder 3">
            <a:extLst>
              <a:ext uri="{FF2B5EF4-FFF2-40B4-BE49-F238E27FC236}">
                <a16:creationId xmlns:a16="http://schemas.microsoft.com/office/drawing/2014/main" id="{65BE4C53-04AC-0296-FDA3-D36BFC62122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F7C2E51-347A-46F9-2D12-11BD4F6EFBA6}"/>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EC1969E-C6D4-FE90-A167-659C0BFAEB2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50F70D12-DAAE-C763-F60B-364BD02BC38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236CA12C-3451-45B4-BC9A-59FA0604EEC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BC0F9B29-C1DE-6763-0585-7B2394662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5380A26C-07F7-3E24-C6AD-D6C8149966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6084" name="Slide Number Placeholder 3">
            <a:extLst>
              <a:ext uri="{FF2B5EF4-FFF2-40B4-BE49-F238E27FC236}">
                <a16:creationId xmlns:a16="http://schemas.microsoft.com/office/drawing/2014/main" id="{513D36A6-3E8D-465F-81E9-C5C23CA876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fld id="{6F374E7C-937E-4E0E-B540-11FBB40A8585}" type="slidenum">
              <a:rPr lang="en-US" altLang="en-US">
                <a:latin typeface="Calibri" panose="020F0502020204030204" pitchFamily="34" charset="0"/>
              </a:rPr>
              <a:pPr/>
              <a:t>36</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D1007D16-5982-0B64-4414-6FDB46627545}"/>
              </a:ext>
            </a:extLst>
          </p:cNvPr>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3" name="Oval 2">
            <a:extLst>
              <a:ext uri="{FF2B5EF4-FFF2-40B4-BE49-F238E27FC236}">
                <a16:creationId xmlns:a16="http://schemas.microsoft.com/office/drawing/2014/main" id="{13DBF1B5-6276-6644-D574-39636B408D3C}"/>
              </a:ext>
            </a:extLst>
          </p:cNvPr>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4" name="Date Placeholder 6">
            <a:extLst>
              <a:ext uri="{FF2B5EF4-FFF2-40B4-BE49-F238E27FC236}">
                <a16:creationId xmlns:a16="http://schemas.microsoft.com/office/drawing/2014/main" id="{90AA5711-EE82-EC89-7CDD-FE14FA1DD618}"/>
              </a:ext>
            </a:extLst>
          </p:cNvPr>
          <p:cNvSpPr>
            <a:spLocks noGrp="1"/>
          </p:cNvSpPr>
          <p:nvPr>
            <p:ph type="dt" sz="half" idx="10"/>
          </p:nvPr>
        </p:nvSpPr>
        <p:spPr/>
        <p:txBody>
          <a:bodyPr/>
          <a:lstStyle>
            <a:lvl1pPr>
              <a:defRPr/>
            </a:lvl1pPr>
            <a:extLst/>
          </a:lstStyle>
          <a:p>
            <a:pPr>
              <a:defRPr/>
            </a:pPr>
            <a:fld id="{8067965F-6335-43FD-B4F8-27BA14058C6E}" type="datetimeFigureOut">
              <a:rPr lang="en-US"/>
              <a:pPr>
                <a:defRPr/>
              </a:pPr>
              <a:t>12/25/2025</a:t>
            </a:fld>
            <a:endParaRPr lang="en-US"/>
          </a:p>
        </p:txBody>
      </p:sp>
      <p:sp>
        <p:nvSpPr>
          <p:cNvPr id="5" name="Footer Placeholder 19">
            <a:extLst>
              <a:ext uri="{FF2B5EF4-FFF2-40B4-BE49-F238E27FC236}">
                <a16:creationId xmlns:a16="http://schemas.microsoft.com/office/drawing/2014/main" id="{451D4AFF-AC27-9109-D9EA-12B6E1E90795}"/>
              </a:ext>
            </a:extLst>
          </p:cNvPr>
          <p:cNvSpPr>
            <a:spLocks noGrp="1"/>
          </p:cNvSpPr>
          <p:nvPr>
            <p:ph type="ftr" sz="quarter" idx="11"/>
          </p:nvPr>
        </p:nvSpPr>
        <p:spPr/>
        <p:txBody>
          <a:bodyPr/>
          <a:lstStyle>
            <a:lvl1pPr>
              <a:defRPr/>
            </a:lvl1pPr>
            <a:extLst/>
          </a:lstStyle>
          <a:p>
            <a:pPr>
              <a:defRPr/>
            </a:pPr>
            <a:endParaRPr lang="en-US"/>
          </a:p>
        </p:txBody>
      </p:sp>
      <p:sp>
        <p:nvSpPr>
          <p:cNvPr id="6" name="Slide Number Placeholder 9">
            <a:extLst>
              <a:ext uri="{FF2B5EF4-FFF2-40B4-BE49-F238E27FC236}">
                <a16:creationId xmlns:a16="http://schemas.microsoft.com/office/drawing/2014/main" id="{D465F140-5041-9A89-5B55-95A07C4F195E}"/>
              </a:ext>
            </a:extLst>
          </p:cNvPr>
          <p:cNvSpPr>
            <a:spLocks noGrp="1"/>
          </p:cNvSpPr>
          <p:nvPr>
            <p:ph type="sldNum" sz="quarter" idx="12"/>
          </p:nvPr>
        </p:nvSpPr>
        <p:spPr/>
        <p:txBody>
          <a:bodyPr/>
          <a:lstStyle>
            <a:lvl1pPr>
              <a:defRPr/>
            </a:lvl1pPr>
          </a:lstStyle>
          <a:p>
            <a:fld id="{A48956B2-8F22-4C0F-A813-023487E59ECC}" type="slidenum">
              <a:rPr lang="en-US" altLang="en-US"/>
              <a:pPr/>
              <a:t>‹#›</a:t>
            </a:fld>
            <a:endParaRPr lang="en-US" altLang="en-US"/>
          </a:p>
        </p:txBody>
      </p:sp>
    </p:spTree>
    <p:extLst>
      <p:ext uri="{BB962C8B-B14F-4D97-AF65-F5344CB8AC3E}">
        <p14:creationId xmlns:p14="http://schemas.microsoft.com/office/powerpoint/2010/main" val="3322683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a:extLst>
              <a:ext uri="{FF2B5EF4-FFF2-40B4-BE49-F238E27FC236}">
                <a16:creationId xmlns:a16="http://schemas.microsoft.com/office/drawing/2014/main" id="{44F3A71C-9DCE-055E-173C-99094EFBC163}"/>
              </a:ext>
            </a:extLst>
          </p:cNvPr>
          <p:cNvSpPr>
            <a:spLocks noGrp="1"/>
          </p:cNvSpPr>
          <p:nvPr>
            <p:ph type="dt" sz="half" idx="10"/>
          </p:nvPr>
        </p:nvSpPr>
        <p:spPr/>
        <p:txBody>
          <a:bodyPr/>
          <a:lstStyle>
            <a:lvl1pPr>
              <a:defRPr/>
            </a:lvl1pPr>
          </a:lstStyle>
          <a:p>
            <a:pPr>
              <a:defRPr/>
            </a:pPr>
            <a:fld id="{6C37735B-BE82-4E36-90DB-4A47989F0D01}" type="datetimeFigureOut">
              <a:rPr lang="en-US"/>
              <a:pPr>
                <a:defRPr/>
              </a:pPr>
              <a:t>12/25/2025</a:t>
            </a:fld>
            <a:endParaRPr lang="en-US"/>
          </a:p>
        </p:txBody>
      </p:sp>
      <p:sp>
        <p:nvSpPr>
          <p:cNvPr id="5" name="Footer Placeholder 9">
            <a:extLst>
              <a:ext uri="{FF2B5EF4-FFF2-40B4-BE49-F238E27FC236}">
                <a16:creationId xmlns:a16="http://schemas.microsoft.com/office/drawing/2014/main" id="{951506C5-162C-496C-5374-49058D5C8B2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1">
            <a:extLst>
              <a:ext uri="{FF2B5EF4-FFF2-40B4-BE49-F238E27FC236}">
                <a16:creationId xmlns:a16="http://schemas.microsoft.com/office/drawing/2014/main" id="{F9A743D5-5E45-AB24-E499-677E4AB2963A}"/>
              </a:ext>
            </a:extLst>
          </p:cNvPr>
          <p:cNvSpPr>
            <a:spLocks noGrp="1"/>
          </p:cNvSpPr>
          <p:nvPr>
            <p:ph type="sldNum" sz="quarter" idx="12"/>
          </p:nvPr>
        </p:nvSpPr>
        <p:spPr/>
        <p:txBody>
          <a:bodyPr/>
          <a:lstStyle>
            <a:lvl1pPr>
              <a:defRPr/>
            </a:lvl1pPr>
          </a:lstStyle>
          <a:p>
            <a:fld id="{4AA8791E-5C31-4CBC-BD17-A87F2E5CA15D}" type="slidenum">
              <a:rPr lang="en-US" altLang="en-US"/>
              <a:pPr/>
              <a:t>‹#›</a:t>
            </a:fld>
            <a:endParaRPr lang="en-US" altLang="en-US"/>
          </a:p>
        </p:txBody>
      </p:sp>
    </p:spTree>
    <p:extLst>
      <p:ext uri="{BB962C8B-B14F-4D97-AF65-F5344CB8AC3E}">
        <p14:creationId xmlns:p14="http://schemas.microsoft.com/office/powerpoint/2010/main" val="3291048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539BC9-4858-240E-1304-10C50CF1E8FF}"/>
              </a:ext>
            </a:extLst>
          </p:cNvPr>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F0078A24-5ED8-2570-956D-E98E796D3C7C}"/>
              </a:ext>
            </a:extLst>
          </p:cNvPr>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Oval 5">
            <a:extLst>
              <a:ext uri="{FF2B5EF4-FFF2-40B4-BE49-F238E27FC236}">
                <a16:creationId xmlns:a16="http://schemas.microsoft.com/office/drawing/2014/main" id="{197489EA-BDA0-B350-D368-AF23EFE31989}"/>
              </a:ext>
            </a:extLst>
          </p:cNvPr>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7" name="Oval 6">
            <a:extLst>
              <a:ext uri="{FF2B5EF4-FFF2-40B4-BE49-F238E27FC236}">
                <a16:creationId xmlns:a16="http://schemas.microsoft.com/office/drawing/2014/main" id="{ED9319A2-D46B-5EC4-DC41-A8A8FA12AD2C}"/>
              </a:ext>
            </a:extLst>
          </p:cNvPr>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a:extLst>
              <a:ext uri="{FF2B5EF4-FFF2-40B4-BE49-F238E27FC236}">
                <a16:creationId xmlns:a16="http://schemas.microsoft.com/office/drawing/2014/main" id="{54F9539D-F493-B3CC-999A-0DA57FA6D5C2}"/>
              </a:ext>
            </a:extLst>
          </p:cNvPr>
          <p:cNvSpPr>
            <a:spLocks noGrp="1"/>
          </p:cNvSpPr>
          <p:nvPr>
            <p:ph type="dt" sz="half" idx="10"/>
          </p:nvPr>
        </p:nvSpPr>
        <p:spPr/>
        <p:txBody>
          <a:bodyPr/>
          <a:lstStyle>
            <a:lvl1pPr>
              <a:defRPr/>
            </a:lvl1pPr>
            <a:extLst/>
          </a:lstStyle>
          <a:p>
            <a:pPr>
              <a:defRPr/>
            </a:pPr>
            <a:fld id="{402B636D-7034-4EA1-89C4-281E6BE2DF7D}" type="datetimeFigureOut">
              <a:rPr lang="en-US"/>
              <a:pPr>
                <a:defRPr/>
              </a:pPr>
              <a:t>12/25/2025</a:t>
            </a:fld>
            <a:endParaRPr lang="en-US"/>
          </a:p>
        </p:txBody>
      </p:sp>
      <p:sp>
        <p:nvSpPr>
          <p:cNvPr id="9" name="Footer Placeholder 4">
            <a:extLst>
              <a:ext uri="{FF2B5EF4-FFF2-40B4-BE49-F238E27FC236}">
                <a16:creationId xmlns:a16="http://schemas.microsoft.com/office/drawing/2014/main" id="{80DD8B27-C984-F56A-5CC4-DFE8961EFB69}"/>
              </a:ext>
            </a:extLst>
          </p:cNvPr>
          <p:cNvSpPr>
            <a:spLocks noGrp="1"/>
          </p:cNvSpPr>
          <p:nvPr>
            <p:ph type="ftr" sz="quarter" idx="11"/>
          </p:nvPr>
        </p:nvSpPr>
        <p:spPr/>
        <p:txBody>
          <a:bodyPr/>
          <a:lstStyle>
            <a:lvl1pPr>
              <a:defRPr/>
            </a:lvl1pPr>
            <a:extLst/>
          </a:lstStyle>
          <a:p>
            <a:pPr>
              <a:defRPr/>
            </a:pPr>
            <a:endParaRPr lang="en-US"/>
          </a:p>
        </p:txBody>
      </p:sp>
      <p:sp>
        <p:nvSpPr>
          <p:cNvPr id="10" name="Slide Number Placeholder 5">
            <a:extLst>
              <a:ext uri="{FF2B5EF4-FFF2-40B4-BE49-F238E27FC236}">
                <a16:creationId xmlns:a16="http://schemas.microsoft.com/office/drawing/2014/main" id="{25C850A1-4AD5-5550-5296-07CB475D8395}"/>
              </a:ext>
            </a:extLst>
          </p:cNvPr>
          <p:cNvSpPr>
            <a:spLocks noGrp="1"/>
          </p:cNvSpPr>
          <p:nvPr>
            <p:ph type="sldNum" sz="quarter" idx="12"/>
          </p:nvPr>
        </p:nvSpPr>
        <p:spPr/>
        <p:txBody>
          <a:bodyPr/>
          <a:lstStyle>
            <a:lvl1pPr>
              <a:defRPr/>
            </a:lvl1pPr>
          </a:lstStyle>
          <a:p>
            <a:fld id="{FCC17510-BE63-40F2-BA18-85AF14BC20F1}" type="slidenum">
              <a:rPr lang="en-US" altLang="en-US"/>
              <a:pPr/>
              <a:t>‹#›</a:t>
            </a:fld>
            <a:endParaRPr lang="en-US" altLang="en-US"/>
          </a:p>
        </p:txBody>
      </p:sp>
    </p:spTree>
    <p:extLst>
      <p:ext uri="{BB962C8B-B14F-4D97-AF65-F5344CB8AC3E}">
        <p14:creationId xmlns:p14="http://schemas.microsoft.com/office/powerpoint/2010/main" val="1175748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a:extLst>
              <a:ext uri="{FF2B5EF4-FFF2-40B4-BE49-F238E27FC236}">
                <a16:creationId xmlns:a16="http://schemas.microsoft.com/office/drawing/2014/main" id="{C0A44EC3-3D4C-7047-D965-97BC66B52C16}"/>
              </a:ext>
            </a:extLst>
          </p:cNvPr>
          <p:cNvSpPr>
            <a:spLocks noGrp="1"/>
          </p:cNvSpPr>
          <p:nvPr>
            <p:ph type="dt" sz="half" idx="10"/>
          </p:nvPr>
        </p:nvSpPr>
        <p:spPr/>
        <p:txBody>
          <a:bodyPr/>
          <a:lstStyle>
            <a:lvl1pPr>
              <a:defRPr/>
            </a:lvl1pPr>
          </a:lstStyle>
          <a:p>
            <a:pPr>
              <a:defRPr/>
            </a:pPr>
            <a:fld id="{FBB3A116-8594-45CC-A129-C891613982B7}" type="datetimeFigureOut">
              <a:rPr lang="en-US"/>
              <a:pPr>
                <a:defRPr/>
              </a:pPr>
              <a:t>12/25/2025</a:t>
            </a:fld>
            <a:endParaRPr lang="en-US"/>
          </a:p>
        </p:txBody>
      </p:sp>
      <p:sp>
        <p:nvSpPr>
          <p:cNvPr id="6" name="Footer Placeholder 9">
            <a:extLst>
              <a:ext uri="{FF2B5EF4-FFF2-40B4-BE49-F238E27FC236}">
                <a16:creationId xmlns:a16="http://schemas.microsoft.com/office/drawing/2014/main" id="{707317E4-A2E6-FC2A-638F-06AD64BD486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1">
            <a:extLst>
              <a:ext uri="{FF2B5EF4-FFF2-40B4-BE49-F238E27FC236}">
                <a16:creationId xmlns:a16="http://schemas.microsoft.com/office/drawing/2014/main" id="{0732223E-F3B7-8F78-79FE-BA49C034385E}"/>
              </a:ext>
            </a:extLst>
          </p:cNvPr>
          <p:cNvSpPr>
            <a:spLocks noGrp="1"/>
          </p:cNvSpPr>
          <p:nvPr>
            <p:ph type="sldNum" sz="quarter" idx="12"/>
          </p:nvPr>
        </p:nvSpPr>
        <p:spPr/>
        <p:txBody>
          <a:bodyPr/>
          <a:lstStyle>
            <a:lvl1pPr>
              <a:defRPr/>
            </a:lvl1pPr>
          </a:lstStyle>
          <a:p>
            <a:fld id="{25B6D657-6AD6-452A-9B48-639AB9B9D4EE}" type="slidenum">
              <a:rPr lang="en-US" altLang="en-US"/>
              <a:pPr/>
              <a:t>‹#›</a:t>
            </a:fld>
            <a:endParaRPr lang="en-US" altLang="en-US"/>
          </a:p>
        </p:txBody>
      </p:sp>
    </p:spTree>
    <p:extLst>
      <p:ext uri="{BB962C8B-B14F-4D97-AF65-F5344CB8AC3E}">
        <p14:creationId xmlns:p14="http://schemas.microsoft.com/office/powerpoint/2010/main" val="1417619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6978E9-82E5-290C-F8A6-AB12D1CE8206}"/>
              </a:ext>
            </a:extLst>
          </p:cNvPr>
          <p:cNvSpPr>
            <a:spLocks noGrp="1"/>
          </p:cNvSpPr>
          <p:nvPr>
            <p:ph type="dt" sz="half" idx="10"/>
          </p:nvPr>
        </p:nvSpPr>
        <p:spPr/>
        <p:txBody>
          <a:bodyPr/>
          <a:lstStyle>
            <a:lvl1pPr>
              <a:defRPr/>
            </a:lvl1pPr>
            <a:extLst/>
          </a:lstStyle>
          <a:p>
            <a:pPr>
              <a:defRPr/>
            </a:pPr>
            <a:fld id="{F9E70B4D-B943-4AAF-98B8-E6861AC25C86}" type="datetimeFigureOut">
              <a:rPr lang="en-US"/>
              <a:pPr>
                <a:defRPr/>
              </a:pPr>
              <a:t>12/25/2025</a:t>
            </a:fld>
            <a:endParaRPr lang="en-US"/>
          </a:p>
        </p:txBody>
      </p:sp>
      <p:sp>
        <p:nvSpPr>
          <p:cNvPr id="8" name="Footer Placeholder 7">
            <a:extLst>
              <a:ext uri="{FF2B5EF4-FFF2-40B4-BE49-F238E27FC236}">
                <a16:creationId xmlns:a16="http://schemas.microsoft.com/office/drawing/2014/main" id="{95F72C4B-B962-60A0-3110-B8F33BC3EE4E}"/>
              </a:ext>
            </a:extLst>
          </p:cNvPr>
          <p:cNvSpPr>
            <a:spLocks noGrp="1"/>
          </p:cNvSpPr>
          <p:nvPr>
            <p:ph type="ftr" sz="quarter" idx="11"/>
          </p:nvPr>
        </p:nvSpPr>
        <p:spPr/>
        <p:txBody>
          <a:bodyPr/>
          <a:lstStyle>
            <a:lvl1pPr>
              <a:defRPr/>
            </a:lvl1pPr>
            <a:extLst/>
          </a:lstStyle>
          <a:p>
            <a:pPr>
              <a:defRPr/>
            </a:pPr>
            <a:endParaRPr lang="en-US"/>
          </a:p>
        </p:txBody>
      </p:sp>
      <p:sp>
        <p:nvSpPr>
          <p:cNvPr id="9" name="Slide Number Placeholder 8">
            <a:extLst>
              <a:ext uri="{FF2B5EF4-FFF2-40B4-BE49-F238E27FC236}">
                <a16:creationId xmlns:a16="http://schemas.microsoft.com/office/drawing/2014/main" id="{A281E4AA-0370-C9DA-40A1-9BDF7A7FE919}"/>
              </a:ext>
            </a:extLst>
          </p:cNvPr>
          <p:cNvSpPr>
            <a:spLocks noGrp="1"/>
          </p:cNvSpPr>
          <p:nvPr>
            <p:ph type="sldNum" sz="quarter" idx="12"/>
          </p:nvPr>
        </p:nvSpPr>
        <p:spPr/>
        <p:txBody>
          <a:bodyPr/>
          <a:lstStyle>
            <a:lvl1pPr>
              <a:defRPr/>
            </a:lvl1pPr>
          </a:lstStyle>
          <a:p>
            <a:fld id="{D5072CCA-DFA6-458E-8442-EBC1B7963110}" type="slidenum">
              <a:rPr lang="en-US" altLang="en-US"/>
              <a:pPr/>
              <a:t>‹#›</a:t>
            </a:fld>
            <a:endParaRPr lang="en-US" altLang="en-US"/>
          </a:p>
        </p:txBody>
      </p:sp>
    </p:spTree>
    <p:extLst>
      <p:ext uri="{BB962C8B-B14F-4D97-AF65-F5344CB8AC3E}">
        <p14:creationId xmlns:p14="http://schemas.microsoft.com/office/powerpoint/2010/main" val="4270286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a:extLst>
              <a:ext uri="{FF2B5EF4-FFF2-40B4-BE49-F238E27FC236}">
                <a16:creationId xmlns:a16="http://schemas.microsoft.com/office/drawing/2014/main" id="{3A1BE54F-7198-1474-68C8-4165236C9EF8}"/>
              </a:ext>
            </a:extLst>
          </p:cNvPr>
          <p:cNvSpPr>
            <a:spLocks noGrp="1"/>
          </p:cNvSpPr>
          <p:nvPr>
            <p:ph type="dt" sz="half" idx="10"/>
          </p:nvPr>
        </p:nvSpPr>
        <p:spPr/>
        <p:txBody>
          <a:bodyPr/>
          <a:lstStyle>
            <a:lvl1pPr>
              <a:defRPr/>
            </a:lvl1pPr>
          </a:lstStyle>
          <a:p>
            <a:pPr>
              <a:defRPr/>
            </a:pPr>
            <a:fld id="{33A77459-5310-4D8F-AE7D-C219FB61D725}" type="datetimeFigureOut">
              <a:rPr lang="en-US"/>
              <a:pPr>
                <a:defRPr/>
              </a:pPr>
              <a:t>12/25/2025</a:t>
            </a:fld>
            <a:endParaRPr lang="en-US"/>
          </a:p>
        </p:txBody>
      </p:sp>
      <p:sp>
        <p:nvSpPr>
          <p:cNvPr id="4" name="Footer Placeholder 9">
            <a:extLst>
              <a:ext uri="{FF2B5EF4-FFF2-40B4-BE49-F238E27FC236}">
                <a16:creationId xmlns:a16="http://schemas.microsoft.com/office/drawing/2014/main" id="{8E9D2703-4A00-F71E-2131-8B039171A22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1">
            <a:extLst>
              <a:ext uri="{FF2B5EF4-FFF2-40B4-BE49-F238E27FC236}">
                <a16:creationId xmlns:a16="http://schemas.microsoft.com/office/drawing/2014/main" id="{A1DE298E-EE29-B206-2534-5FBC6CE35FA6}"/>
              </a:ext>
            </a:extLst>
          </p:cNvPr>
          <p:cNvSpPr>
            <a:spLocks noGrp="1"/>
          </p:cNvSpPr>
          <p:nvPr>
            <p:ph type="sldNum" sz="quarter" idx="12"/>
          </p:nvPr>
        </p:nvSpPr>
        <p:spPr/>
        <p:txBody>
          <a:bodyPr/>
          <a:lstStyle>
            <a:lvl1pPr>
              <a:defRPr/>
            </a:lvl1pPr>
          </a:lstStyle>
          <a:p>
            <a:fld id="{0EF71E20-FAEA-4A97-91C5-CE990025A945}" type="slidenum">
              <a:rPr lang="en-US" altLang="en-US"/>
              <a:pPr/>
              <a:t>‹#›</a:t>
            </a:fld>
            <a:endParaRPr lang="en-US" altLang="en-US"/>
          </a:p>
        </p:txBody>
      </p:sp>
    </p:spTree>
    <p:extLst>
      <p:ext uri="{BB962C8B-B14F-4D97-AF65-F5344CB8AC3E}">
        <p14:creationId xmlns:p14="http://schemas.microsoft.com/office/powerpoint/2010/main" val="8530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9CCEEC-ACEA-F0CC-FE7F-ECA4254F554C}"/>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Rectangle 2">
            <a:extLst>
              <a:ext uri="{FF2B5EF4-FFF2-40B4-BE49-F238E27FC236}">
                <a16:creationId xmlns:a16="http://schemas.microsoft.com/office/drawing/2014/main" id="{DCD557E9-33DF-CB25-099F-2F4879FDC045}"/>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Date Placeholder 1">
            <a:extLst>
              <a:ext uri="{FF2B5EF4-FFF2-40B4-BE49-F238E27FC236}">
                <a16:creationId xmlns:a16="http://schemas.microsoft.com/office/drawing/2014/main" id="{3E165AEA-9A30-A9A7-BD82-A43019B6D267}"/>
              </a:ext>
            </a:extLst>
          </p:cNvPr>
          <p:cNvSpPr>
            <a:spLocks noGrp="1"/>
          </p:cNvSpPr>
          <p:nvPr>
            <p:ph type="dt" sz="half" idx="10"/>
          </p:nvPr>
        </p:nvSpPr>
        <p:spPr/>
        <p:txBody>
          <a:bodyPr/>
          <a:lstStyle>
            <a:lvl1pPr>
              <a:defRPr/>
            </a:lvl1pPr>
            <a:extLst/>
          </a:lstStyle>
          <a:p>
            <a:pPr>
              <a:defRPr/>
            </a:pPr>
            <a:fld id="{15F4517F-31DB-45A3-A9ED-6916EDC0A334}" type="datetimeFigureOut">
              <a:rPr lang="en-US"/>
              <a:pPr>
                <a:defRPr/>
              </a:pPr>
              <a:t>12/25/2025</a:t>
            </a:fld>
            <a:endParaRPr lang="en-US"/>
          </a:p>
        </p:txBody>
      </p:sp>
      <p:sp>
        <p:nvSpPr>
          <p:cNvPr id="5" name="Footer Placeholder 2">
            <a:extLst>
              <a:ext uri="{FF2B5EF4-FFF2-40B4-BE49-F238E27FC236}">
                <a16:creationId xmlns:a16="http://schemas.microsoft.com/office/drawing/2014/main" id="{A5FCAB7A-B7E1-83B4-E951-3B7AA109853F}"/>
              </a:ext>
            </a:extLst>
          </p:cNvPr>
          <p:cNvSpPr>
            <a:spLocks noGrp="1"/>
          </p:cNvSpPr>
          <p:nvPr>
            <p:ph type="ftr" sz="quarter" idx="11"/>
          </p:nvPr>
        </p:nvSpPr>
        <p:spPr/>
        <p:txBody>
          <a:bodyPr/>
          <a:lstStyle>
            <a:lvl1pPr>
              <a:defRPr/>
            </a:lvl1pPr>
            <a:extLst/>
          </a:lstStyle>
          <a:p>
            <a:pPr>
              <a:defRPr/>
            </a:pPr>
            <a:endParaRPr lang="en-US"/>
          </a:p>
        </p:txBody>
      </p:sp>
      <p:sp>
        <p:nvSpPr>
          <p:cNvPr id="6" name="Slide Number Placeholder 3">
            <a:extLst>
              <a:ext uri="{FF2B5EF4-FFF2-40B4-BE49-F238E27FC236}">
                <a16:creationId xmlns:a16="http://schemas.microsoft.com/office/drawing/2014/main" id="{93313548-7329-75DF-B82F-E02E41655529}"/>
              </a:ext>
            </a:extLst>
          </p:cNvPr>
          <p:cNvSpPr>
            <a:spLocks noGrp="1"/>
          </p:cNvSpPr>
          <p:nvPr>
            <p:ph type="sldNum" sz="quarter" idx="12"/>
          </p:nvPr>
        </p:nvSpPr>
        <p:spPr/>
        <p:txBody>
          <a:bodyPr/>
          <a:lstStyle>
            <a:lvl1pPr>
              <a:defRPr/>
            </a:lvl1pPr>
          </a:lstStyle>
          <a:p>
            <a:fld id="{3D1FCFA8-C849-42EA-912A-1D9EFED5DCF9}" type="slidenum">
              <a:rPr lang="en-US" altLang="en-US"/>
              <a:pPr/>
              <a:t>‹#›</a:t>
            </a:fld>
            <a:endParaRPr lang="en-US" altLang="en-US"/>
          </a:p>
        </p:txBody>
      </p:sp>
    </p:spTree>
    <p:extLst>
      <p:ext uri="{BB962C8B-B14F-4D97-AF65-F5344CB8AC3E}">
        <p14:creationId xmlns:p14="http://schemas.microsoft.com/office/powerpoint/2010/main" val="1392238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89464A-44C8-7F9F-A860-9C98C5129619}"/>
              </a:ext>
            </a:extLst>
          </p:cNvPr>
          <p:cNvSpPr>
            <a:spLocks noGrp="1"/>
          </p:cNvSpPr>
          <p:nvPr>
            <p:ph type="dt" sz="half" idx="10"/>
          </p:nvPr>
        </p:nvSpPr>
        <p:spPr/>
        <p:txBody>
          <a:bodyPr/>
          <a:lstStyle>
            <a:lvl1pPr>
              <a:defRPr/>
            </a:lvl1pPr>
            <a:extLst/>
          </a:lstStyle>
          <a:p>
            <a:pPr>
              <a:defRPr/>
            </a:pPr>
            <a:fld id="{6BFBD5E1-0233-4EEE-B67D-84B89F92FE7D}" type="datetimeFigureOut">
              <a:rPr lang="en-US"/>
              <a:pPr>
                <a:defRPr/>
              </a:pPr>
              <a:t>12/25/2025</a:t>
            </a:fld>
            <a:endParaRPr lang="en-US"/>
          </a:p>
        </p:txBody>
      </p:sp>
      <p:sp>
        <p:nvSpPr>
          <p:cNvPr id="6" name="Footer Placeholder 5">
            <a:extLst>
              <a:ext uri="{FF2B5EF4-FFF2-40B4-BE49-F238E27FC236}">
                <a16:creationId xmlns:a16="http://schemas.microsoft.com/office/drawing/2014/main" id="{FA12C97B-841A-D262-2DFF-C41A951C6923}"/>
              </a:ext>
            </a:extLst>
          </p:cNvPr>
          <p:cNvSpPr>
            <a:spLocks noGrp="1"/>
          </p:cNvSpPr>
          <p:nvPr>
            <p:ph type="ftr" sz="quarter" idx="11"/>
          </p:nvPr>
        </p:nvSpPr>
        <p:spPr/>
        <p:txBody>
          <a:bodyPr/>
          <a:lstStyle>
            <a:lvl1pPr>
              <a:defRPr/>
            </a:lvl1pPr>
            <a:extLst/>
          </a:lstStyle>
          <a:p>
            <a:pPr>
              <a:defRPr/>
            </a:pPr>
            <a:endParaRPr lang="en-US"/>
          </a:p>
        </p:txBody>
      </p:sp>
      <p:sp>
        <p:nvSpPr>
          <p:cNvPr id="7" name="Slide Number Placeholder 6">
            <a:extLst>
              <a:ext uri="{FF2B5EF4-FFF2-40B4-BE49-F238E27FC236}">
                <a16:creationId xmlns:a16="http://schemas.microsoft.com/office/drawing/2014/main" id="{A6BE3EED-049E-0091-AA92-156CBB46E811}"/>
              </a:ext>
            </a:extLst>
          </p:cNvPr>
          <p:cNvSpPr>
            <a:spLocks noGrp="1"/>
          </p:cNvSpPr>
          <p:nvPr>
            <p:ph type="sldNum" sz="quarter" idx="12"/>
          </p:nvPr>
        </p:nvSpPr>
        <p:spPr/>
        <p:txBody>
          <a:bodyPr/>
          <a:lstStyle>
            <a:lvl1pPr>
              <a:defRPr/>
            </a:lvl1pPr>
          </a:lstStyle>
          <a:p>
            <a:fld id="{18856FE6-8D7E-47FC-87F6-6C988A1258BB}" type="slidenum">
              <a:rPr lang="en-US" altLang="en-US"/>
              <a:pPr/>
              <a:t>‹#›</a:t>
            </a:fld>
            <a:endParaRPr lang="en-US" altLang="en-US"/>
          </a:p>
        </p:txBody>
      </p:sp>
    </p:spTree>
    <p:extLst>
      <p:ext uri="{BB962C8B-B14F-4D97-AF65-F5344CB8AC3E}">
        <p14:creationId xmlns:p14="http://schemas.microsoft.com/office/powerpoint/2010/main" val="2664799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4A01B8-5E66-CFA6-685B-6D7276F0869B}"/>
              </a:ext>
            </a:extLst>
          </p:cNvPr>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eaLnBrk="1" fontAlgn="auto" hangingPunct="1">
              <a:lnSpc>
                <a:spcPts val="3000"/>
              </a:lnSpc>
              <a:spcBef>
                <a:spcPts val="600"/>
              </a:spcBef>
              <a:spcAft>
                <a:spcPts val="0"/>
              </a:spcAft>
              <a:buClr>
                <a:schemeClr val="accent1"/>
              </a:buClr>
              <a:buSzPct val="80000"/>
              <a:buFont typeface="Wingdings 2"/>
              <a:buNone/>
              <a:defRPr/>
            </a:pPr>
            <a:endParaRPr lang="en-US" sz="3200">
              <a:latin typeface="+mn-lt"/>
              <a:cs typeface="+mn-cs"/>
            </a:endParaRPr>
          </a:p>
        </p:txBody>
      </p:sp>
      <p:sp>
        <p:nvSpPr>
          <p:cNvPr id="6" name="Flowchart: Process 5">
            <a:extLst>
              <a:ext uri="{FF2B5EF4-FFF2-40B4-BE49-F238E27FC236}">
                <a16:creationId xmlns:a16="http://schemas.microsoft.com/office/drawing/2014/main" id="{BC0B093B-7C5F-B17D-E244-150D0BA7FDFA}"/>
              </a:ext>
            </a:extLst>
          </p:cNvPr>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Flowchart: Process 6">
            <a:extLst>
              <a:ext uri="{FF2B5EF4-FFF2-40B4-BE49-F238E27FC236}">
                <a16:creationId xmlns:a16="http://schemas.microsoft.com/office/drawing/2014/main" id="{7690F945-AB9E-D205-F425-00E44BDB3327}"/>
              </a:ext>
            </a:extLst>
          </p:cNvPr>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a:extLst>
              <a:ext uri="{FF2B5EF4-FFF2-40B4-BE49-F238E27FC236}">
                <a16:creationId xmlns:a16="http://schemas.microsoft.com/office/drawing/2014/main" id="{8EBED6E3-5FC6-5233-B3E1-5B1E9715CDA3}"/>
              </a:ext>
            </a:extLst>
          </p:cNvPr>
          <p:cNvSpPr>
            <a:spLocks noGrp="1"/>
          </p:cNvSpPr>
          <p:nvPr>
            <p:ph type="dt" sz="half" idx="10"/>
          </p:nvPr>
        </p:nvSpPr>
        <p:spPr/>
        <p:txBody>
          <a:bodyPr/>
          <a:lstStyle>
            <a:lvl1pPr>
              <a:defRPr/>
            </a:lvl1pPr>
            <a:extLst/>
          </a:lstStyle>
          <a:p>
            <a:pPr>
              <a:defRPr/>
            </a:pPr>
            <a:fld id="{EBDE0B80-B53B-43A5-A8FE-76C26AD634D8}" type="datetimeFigureOut">
              <a:rPr lang="en-US"/>
              <a:pPr>
                <a:defRPr/>
              </a:pPr>
              <a:t>12/25/2025</a:t>
            </a:fld>
            <a:endParaRPr lang="en-US"/>
          </a:p>
        </p:txBody>
      </p:sp>
      <p:sp>
        <p:nvSpPr>
          <p:cNvPr id="9" name="Footer Placeholder 5">
            <a:extLst>
              <a:ext uri="{FF2B5EF4-FFF2-40B4-BE49-F238E27FC236}">
                <a16:creationId xmlns:a16="http://schemas.microsoft.com/office/drawing/2014/main" id="{B6BC7A14-D14D-06BE-2CDF-E95AF4527DD3}"/>
              </a:ext>
            </a:extLst>
          </p:cNvPr>
          <p:cNvSpPr>
            <a:spLocks noGrp="1"/>
          </p:cNvSpPr>
          <p:nvPr>
            <p:ph type="ftr" sz="quarter" idx="11"/>
          </p:nvPr>
        </p:nvSpPr>
        <p:spPr/>
        <p:txBody>
          <a:bodyPr/>
          <a:lstStyle>
            <a:lvl1pPr>
              <a:defRPr/>
            </a:lvl1pPr>
            <a:extLst/>
          </a:lstStyle>
          <a:p>
            <a:pPr>
              <a:defRPr/>
            </a:pPr>
            <a:endParaRPr lang="en-US"/>
          </a:p>
        </p:txBody>
      </p:sp>
      <p:sp>
        <p:nvSpPr>
          <p:cNvPr id="10" name="Slide Number Placeholder 6">
            <a:extLst>
              <a:ext uri="{FF2B5EF4-FFF2-40B4-BE49-F238E27FC236}">
                <a16:creationId xmlns:a16="http://schemas.microsoft.com/office/drawing/2014/main" id="{A0C71348-38C9-5D18-8056-0F4BE5EA1F5F}"/>
              </a:ext>
            </a:extLst>
          </p:cNvPr>
          <p:cNvSpPr>
            <a:spLocks noGrp="1"/>
          </p:cNvSpPr>
          <p:nvPr>
            <p:ph type="sldNum" sz="quarter" idx="12"/>
          </p:nvPr>
        </p:nvSpPr>
        <p:spPr/>
        <p:txBody>
          <a:bodyPr/>
          <a:lstStyle>
            <a:lvl1pPr>
              <a:defRPr/>
            </a:lvl1pPr>
          </a:lstStyle>
          <a:p>
            <a:fld id="{6BDCB65C-7090-45BE-AD4A-6E10DFC3D306}" type="slidenum">
              <a:rPr lang="en-US" altLang="en-US"/>
              <a:pPr/>
              <a:t>‹#›</a:t>
            </a:fld>
            <a:endParaRPr lang="en-US" altLang="en-US"/>
          </a:p>
        </p:txBody>
      </p:sp>
    </p:spTree>
    <p:extLst>
      <p:ext uri="{BB962C8B-B14F-4D97-AF65-F5344CB8AC3E}">
        <p14:creationId xmlns:p14="http://schemas.microsoft.com/office/powerpoint/2010/main" val="3882854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a:extLst>
              <a:ext uri="{FF2B5EF4-FFF2-40B4-BE49-F238E27FC236}">
                <a16:creationId xmlns:a16="http://schemas.microsoft.com/office/drawing/2014/main" id="{19F5D09C-F6FB-7358-2AD8-B1F68019047A}"/>
              </a:ext>
            </a:extLst>
          </p:cNvPr>
          <p:cNvSpPr>
            <a:spLocks noGrp="1"/>
          </p:cNvSpPr>
          <p:nvPr>
            <p:ph type="dt" sz="half" idx="10"/>
          </p:nvPr>
        </p:nvSpPr>
        <p:spPr/>
        <p:txBody>
          <a:bodyPr/>
          <a:lstStyle>
            <a:lvl1pPr>
              <a:defRPr/>
            </a:lvl1pPr>
          </a:lstStyle>
          <a:p>
            <a:pPr>
              <a:defRPr/>
            </a:pPr>
            <a:fld id="{9B68BD1D-5EE4-4749-8703-C831B0FBBF71}" type="datetimeFigureOut">
              <a:rPr lang="en-US"/>
              <a:pPr>
                <a:defRPr/>
              </a:pPr>
              <a:t>12/25/2025</a:t>
            </a:fld>
            <a:endParaRPr lang="en-US"/>
          </a:p>
        </p:txBody>
      </p:sp>
      <p:sp>
        <p:nvSpPr>
          <p:cNvPr id="5" name="Footer Placeholder 9">
            <a:extLst>
              <a:ext uri="{FF2B5EF4-FFF2-40B4-BE49-F238E27FC236}">
                <a16:creationId xmlns:a16="http://schemas.microsoft.com/office/drawing/2014/main" id="{35AB4E23-6B34-5243-B145-D60A0D29A4C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1">
            <a:extLst>
              <a:ext uri="{FF2B5EF4-FFF2-40B4-BE49-F238E27FC236}">
                <a16:creationId xmlns:a16="http://schemas.microsoft.com/office/drawing/2014/main" id="{0443BD9D-A35D-7FA8-02C5-EFF79D2C37EF}"/>
              </a:ext>
            </a:extLst>
          </p:cNvPr>
          <p:cNvSpPr>
            <a:spLocks noGrp="1"/>
          </p:cNvSpPr>
          <p:nvPr>
            <p:ph type="sldNum" sz="quarter" idx="12"/>
          </p:nvPr>
        </p:nvSpPr>
        <p:spPr/>
        <p:txBody>
          <a:bodyPr/>
          <a:lstStyle>
            <a:lvl1pPr>
              <a:defRPr/>
            </a:lvl1pPr>
          </a:lstStyle>
          <a:p>
            <a:fld id="{3E537C83-6D6B-4392-84AC-BAB16C86A4E4}" type="slidenum">
              <a:rPr lang="en-US" altLang="en-US"/>
              <a:pPr/>
              <a:t>‹#›</a:t>
            </a:fld>
            <a:endParaRPr lang="en-US" altLang="en-US"/>
          </a:p>
        </p:txBody>
      </p:sp>
    </p:spTree>
    <p:extLst>
      <p:ext uri="{BB962C8B-B14F-4D97-AF65-F5344CB8AC3E}">
        <p14:creationId xmlns:p14="http://schemas.microsoft.com/office/powerpoint/2010/main" val="1740561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a:extLst>
              <a:ext uri="{FF2B5EF4-FFF2-40B4-BE49-F238E27FC236}">
                <a16:creationId xmlns:a16="http://schemas.microsoft.com/office/drawing/2014/main" id="{4B65E6FE-6AA7-B193-1AE0-670C31E00FBA}"/>
              </a:ext>
            </a:extLst>
          </p:cNvPr>
          <p:cNvSpPr>
            <a:spLocks noGrp="1"/>
          </p:cNvSpPr>
          <p:nvPr>
            <p:ph type="dt" sz="half" idx="10"/>
          </p:nvPr>
        </p:nvSpPr>
        <p:spPr/>
        <p:txBody>
          <a:bodyPr/>
          <a:lstStyle>
            <a:lvl1pPr>
              <a:defRPr/>
            </a:lvl1pPr>
          </a:lstStyle>
          <a:p>
            <a:pPr>
              <a:defRPr/>
            </a:pPr>
            <a:fld id="{E83439B4-8BF5-4F0A-94B5-D39D11CD51CB}" type="datetimeFigureOut">
              <a:rPr lang="en-US"/>
              <a:pPr>
                <a:defRPr/>
              </a:pPr>
              <a:t>12/25/2025</a:t>
            </a:fld>
            <a:endParaRPr lang="en-US"/>
          </a:p>
        </p:txBody>
      </p:sp>
      <p:sp>
        <p:nvSpPr>
          <p:cNvPr id="5" name="Footer Placeholder 9">
            <a:extLst>
              <a:ext uri="{FF2B5EF4-FFF2-40B4-BE49-F238E27FC236}">
                <a16:creationId xmlns:a16="http://schemas.microsoft.com/office/drawing/2014/main" id="{CDE84050-43B4-F61D-5F75-C670D1D8F96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1">
            <a:extLst>
              <a:ext uri="{FF2B5EF4-FFF2-40B4-BE49-F238E27FC236}">
                <a16:creationId xmlns:a16="http://schemas.microsoft.com/office/drawing/2014/main" id="{2533B6E9-42F6-6B92-6D6B-475FDC4E60B7}"/>
              </a:ext>
            </a:extLst>
          </p:cNvPr>
          <p:cNvSpPr>
            <a:spLocks noGrp="1"/>
          </p:cNvSpPr>
          <p:nvPr>
            <p:ph type="sldNum" sz="quarter" idx="12"/>
          </p:nvPr>
        </p:nvSpPr>
        <p:spPr/>
        <p:txBody>
          <a:bodyPr/>
          <a:lstStyle>
            <a:lvl1pPr>
              <a:defRPr/>
            </a:lvl1pPr>
          </a:lstStyle>
          <a:p>
            <a:fld id="{22FCBB8B-2AAA-4B78-860C-C9DD5E9DCF19}" type="slidenum">
              <a:rPr lang="en-US" altLang="en-US"/>
              <a:pPr/>
              <a:t>‹#›</a:t>
            </a:fld>
            <a:endParaRPr lang="en-US" altLang="en-US"/>
          </a:p>
        </p:txBody>
      </p:sp>
    </p:spTree>
    <p:extLst>
      <p:ext uri="{BB962C8B-B14F-4D97-AF65-F5344CB8AC3E}">
        <p14:creationId xmlns:p14="http://schemas.microsoft.com/office/powerpoint/2010/main" val="3619842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Pie 6">
            <a:extLst>
              <a:ext uri="{FF2B5EF4-FFF2-40B4-BE49-F238E27FC236}">
                <a16:creationId xmlns:a16="http://schemas.microsoft.com/office/drawing/2014/main" id="{AAA4D51F-E3C1-31DD-F1F6-FE30A10C2A22}"/>
              </a:ext>
            </a:extLst>
          </p:cNvPr>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Oval 7">
            <a:extLst>
              <a:ext uri="{FF2B5EF4-FFF2-40B4-BE49-F238E27FC236}">
                <a16:creationId xmlns:a16="http://schemas.microsoft.com/office/drawing/2014/main" id="{D04E32FA-78DF-6FE2-31CD-3FC2F73EEA21}"/>
              </a:ext>
            </a:extLst>
          </p:cNvPr>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Donut 10">
            <a:extLst>
              <a:ext uri="{FF2B5EF4-FFF2-40B4-BE49-F238E27FC236}">
                <a16:creationId xmlns:a16="http://schemas.microsoft.com/office/drawing/2014/main" id="{2654DC1A-C965-E3D8-0C17-E3CC83C268A8}"/>
              </a:ext>
            </a:extLst>
          </p:cNvPr>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380DD70E-6635-BA76-705D-A084AB0E84B5}"/>
              </a:ext>
            </a:extLst>
          </p:cNvPr>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Placeholder 4">
            <a:extLst>
              <a:ext uri="{FF2B5EF4-FFF2-40B4-BE49-F238E27FC236}">
                <a16:creationId xmlns:a16="http://schemas.microsoft.com/office/drawing/2014/main" id="{A196A80E-6B36-4399-D131-013163371F69}"/>
              </a:ext>
            </a:extLst>
          </p:cNvPr>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a:extLst>
              <a:ext uri="{FF2B5EF4-FFF2-40B4-BE49-F238E27FC236}">
                <a16:creationId xmlns:a16="http://schemas.microsoft.com/office/drawing/2014/main" id="{53A51F3A-9F63-EC51-BC1F-B9C76CC001AD}"/>
              </a:ext>
            </a:extLst>
          </p:cNvPr>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a:extLst>
              <a:ext uri="{FF2B5EF4-FFF2-40B4-BE49-F238E27FC236}">
                <a16:creationId xmlns:a16="http://schemas.microsoft.com/office/drawing/2014/main" id="{C987B188-B727-1CA5-8DF5-214F9C14BDA5}"/>
              </a:ext>
            </a:extLst>
          </p:cNvPr>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cs typeface="+mn-cs"/>
              </a:defRPr>
            </a:lvl1pPr>
            <a:extLst/>
          </a:lstStyle>
          <a:p>
            <a:pPr>
              <a:defRPr/>
            </a:pPr>
            <a:fld id="{AA2DE715-39DC-4243-8732-79A323CF7917}" type="datetimeFigureOut">
              <a:rPr lang="en-US"/>
              <a:pPr>
                <a:defRPr/>
              </a:pPr>
              <a:t>12/25/2025</a:t>
            </a:fld>
            <a:endParaRPr lang="en-US"/>
          </a:p>
        </p:txBody>
      </p:sp>
      <p:sp>
        <p:nvSpPr>
          <p:cNvPr id="10" name="Footer Placeholder 9">
            <a:extLst>
              <a:ext uri="{FF2B5EF4-FFF2-40B4-BE49-F238E27FC236}">
                <a16:creationId xmlns:a16="http://schemas.microsoft.com/office/drawing/2014/main" id="{7BA01544-2E51-2C43-4B71-0936ECC23C00}"/>
              </a:ext>
            </a:extLst>
          </p:cNvPr>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cs typeface="+mn-cs"/>
              </a:defRPr>
            </a:lvl1pPr>
            <a:extLst/>
          </a:lstStyle>
          <a:p>
            <a:pPr>
              <a:defRPr/>
            </a:pPr>
            <a:endParaRPr lang="en-US"/>
          </a:p>
        </p:txBody>
      </p:sp>
      <p:sp>
        <p:nvSpPr>
          <p:cNvPr id="22" name="Slide Number Placeholder 21">
            <a:extLst>
              <a:ext uri="{FF2B5EF4-FFF2-40B4-BE49-F238E27FC236}">
                <a16:creationId xmlns:a16="http://schemas.microsoft.com/office/drawing/2014/main" id="{CDD1E202-A978-5832-1A5B-391CDB0CFBCF}"/>
              </a:ext>
            </a:extLst>
          </p:cNvPr>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200">
                <a:solidFill>
                  <a:srgbClr val="B5A788"/>
                </a:solidFill>
              </a:defRPr>
            </a:lvl1pPr>
          </a:lstStyle>
          <a:p>
            <a:fld id="{E87F956D-CFC3-4BB6-AEF1-DDDD1A9ADE93}" type="slidenum">
              <a:rPr lang="en-US" altLang="en-US"/>
              <a:pPr/>
              <a:t>‹#›</a:t>
            </a:fld>
            <a:endParaRPr lang="en-US" altLang="en-US"/>
          </a:p>
        </p:txBody>
      </p:sp>
      <p:sp>
        <p:nvSpPr>
          <p:cNvPr id="15" name="Rectangle 14">
            <a:extLst>
              <a:ext uri="{FF2B5EF4-FFF2-40B4-BE49-F238E27FC236}">
                <a16:creationId xmlns:a16="http://schemas.microsoft.com/office/drawing/2014/main" id="{FCB05E2B-A61F-ECA2-532D-3D97BBAF7A52}"/>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14" r:id="rId1"/>
    <p:sldLayoutId id="2147483709" r:id="rId2"/>
    <p:sldLayoutId id="2147483715" r:id="rId3"/>
    <p:sldLayoutId id="2147483710" r:id="rId4"/>
    <p:sldLayoutId id="2147483716" r:id="rId5"/>
    <p:sldLayoutId id="2147483711" r:id="rId6"/>
    <p:sldLayoutId id="2147483717" r:id="rId7"/>
    <p:sldLayoutId id="2147483718" r:id="rId8"/>
    <p:sldLayoutId id="2147483719" r:id="rId9"/>
    <p:sldLayoutId id="2147483712" r:id="rId10"/>
    <p:sldLayoutId id="2147483713" r:id="rId11"/>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DD66D-904D-5AE9-6576-BB9C38A3CD7E}"/>
              </a:ext>
            </a:extLst>
          </p:cNvPr>
          <p:cNvSpPr>
            <a:spLocks noGrp="1"/>
          </p:cNvSpPr>
          <p:nvPr>
            <p:ph type="ctrTitle"/>
          </p:nvPr>
        </p:nvSpPr>
        <p:spPr>
          <a:xfrm>
            <a:off x="990600" y="1524000"/>
            <a:ext cx="7407275" cy="1471613"/>
          </a:xfrm>
        </p:spPr>
        <p:txBody>
          <a:bodyPr/>
          <a:lstStyle/>
          <a:p>
            <a:pPr algn="ctr" eaLnBrk="1" fontAlgn="auto" hangingPunct="1">
              <a:spcAft>
                <a:spcPts val="0"/>
              </a:spcAft>
              <a:defRPr/>
            </a:pPr>
            <a:r>
              <a:rPr lang="en-US" b="1" dirty="0">
                <a:solidFill>
                  <a:schemeClr val="tx2">
                    <a:satMod val="130000"/>
                  </a:schemeClr>
                </a:solidFill>
              </a:rPr>
              <a:t>Digital Logic Design</a:t>
            </a:r>
            <a:br>
              <a:rPr lang="en-US" b="1" dirty="0">
                <a:solidFill>
                  <a:schemeClr val="tx2">
                    <a:satMod val="130000"/>
                  </a:schemeClr>
                </a:solidFill>
              </a:rPr>
            </a:br>
            <a:endParaRPr lang="en-US" b="1" dirty="0">
              <a:solidFill>
                <a:schemeClr val="tx2">
                  <a:satMod val="130000"/>
                </a:schemeClr>
              </a:solidFill>
            </a:endParaRPr>
          </a:p>
        </p:txBody>
      </p:sp>
      <p:sp>
        <p:nvSpPr>
          <p:cNvPr id="3" name="Subtitle 2">
            <a:extLst>
              <a:ext uri="{FF2B5EF4-FFF2-40B4-BE49-F238E27FC236}">
                <a16:creationId xmlns:a16="http://schemas.microsoft.com/office/drawing/2014/main" id="{70241500-AEA8-923D-556A-DD10B0BAB789}"/>
              </a:ext>
            </a:extLst>
          </p:cNvPr>
          <p:cNvSpPr>
            <a:spLocks noGrp="1"/>
          </p:cNvSpPr>
          <p:nvPr>
            <p:ph type="subTitle" idx="1"/>
          </p:nvPr>
        </p:nvSpPr>
        <p:spPr>
          <a:xfrm>
            <a:off x="1143000" y="2895600"/>
            <a:ext cx="7407275" cy="1752600"/>
          </a:xfrm>
        </p:spPr>
        <p:txBody>
          <a:bodyPr>
            <a:normAutofit/>
          </a:bodyPr>
          <a:lstStyle/>
          <a:p>
            <a:pPr algn="ctr" eaLnBrk="1" fontAlgn="auto" hangingPunct="1">
              <a:spcAft>
                <a:spcPts val="0"/>
              </a:spcAft>
              <a:buFont typeface="Wingdings 2"/>
              <a:buNone/>
              <a:defRPr/>
            </a:pPr>
            <a:r>
              <a:rPr lang="en-US" sz="3200" b="1">
                <a:latin typeface="Algerian" pitchFamily="82" charset="0"/>
              </a:rPr>
              <a:t>Chapter 4 </a:t>
            </a:r>
            <a:r>
              <a:rPr lang="en-US" sz="3200" b="1" dirty="0">
                <a:latin typeface="Algerian" pitchFamily="82" charset="0"/>
              </a:rPr>
              <a:t>: combinational Logic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9C73EB5-3241-51E9-29C5-58BE0F564748}"/>
              </a:ext>
            </a:extLst>
          </p:cNvPr>
          <p:cNvSpPr>
            <a:spLocks noChangeArrowheads="1"/>
          </p:cNvSpPr>
          <p:nvPr/>
        </p:nvSpPr>
        <p:spPr bwMode="auto">
          <a:xfrm>
            <a:off x="990600" y="533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4400" b="1">
                <a:solidFill>
                  <a:srgbClr val="663300"/>
                </a:solidFill>
              </a:rPr>
              <a:t>Combinational Logic</a:t>
            </a:r>
          </a:p>
        </p:txBody>
      </p:sp>
      <p:sp>
        <p:nvSpPr>
          <p:cNvPr id="10243" name="Rectangle 3">
            <a:extLst>
              <a:ext uri="{FF2B5EF4-FFF2-40B4-BE49-F238E27FC236}">
                <a16:creationId xmlns:a16="http://schemas.microsoft.com/office/drawing/2014/main" id="{A8A4899A-9897-AC20-D3A8-EDEAE62FCA7D}"/>
              </a:ext>
            </a:extLst>
          </p:cNvPr>
          <p:cNvSpPr>
            <a:spLocks noChangeArrowheads="1"/>
          </p:cNvSpPr>
          <p:nvPr/>
        </p:nvSpPr>
        <p:spPr bwMode="auto">
          <a:xfrm>
            <a:off x="990600" y="1828800"/>
            <a:ext cx="6400800" cy="335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lnSpc>
                <a:spcPct val="90000"/>
              </a:lnSpc>
              <a:spcBef>
                <a:spcPct val="40000"/>
              </a:spcBef>
              <a:buClr>
                <a:srgbClr val="663300"/>
              </a:buClr>
              <a:buFont typeface="Wingdings" panose="05000000000000000000" pitchFamily="2" charset="2"/>
              <a:buChar char="u"/>
            </a:pPr>
            <a:r>
              <a:rPr lang="en-US" altLang="en-US" sz="2200" b="1"/>
              <a:t>Definition</a:t>
            </a:r>
          </a:p>
          <a:p>
            <a:pPr eaLnBrk="1" hangingPunct="1">
              <a:lnSpc>
                <a:spcPct val="90000"/>
              </a:lnSpc>
              <a:spcBef>
                <a:spcPct val="40000"/>
              </a:spcBef>
              <a:buClr>
                <a:srgbClr val="663300"/>
              </a:buClr>
              <a:buFont typeface="Wingdings" panose="05000000000000000000" pitchFamily="2" charset="2"/>
              <a:buChar char="u"/>
            </a:pPr>
            <a:r>
              <a:rPr lang="en-US" altLang="en-US" sz="2200" b="1"/>
              <a:t>Analysis</a:t>
            </a:r>
          </a:p>
          <a:p>
            <a:pPr eaLnBrk="1" hangingPunct="1">
              <a:lnSpc>
                <a:spcPct val="90000"/>
              </a:lnSpc>
              <a:spcBef>
                <a:spcPct val="40000"/>
              </a:spcBef>
              <a:buClr>
                <a:srgbClr val="663300"/>
              </a:buClr>
              <a:buFont typeface="Wingdings" panose="05000000000000000000" pitchFamily="2" charset="2"/>
              <a:buChar char="u"/>
            </a:pPr>
            <a:r>
              <a:rPr lang="en-US" altLang="en-US" sz="2200" b="1"/>
              <a:t>Design</a:t>
            </a:r>
          </a:p>
          <a:p>
            <a:pPr eaLnBrk="1" hangingPunct="1">
              <a:lnSpc>
                <a:spcPct val="90000"/>
              </a:lnSpc>
              <a:spcBef>
                <a:spcPct val="40000"/>
              </a:spcBef>
              <a:buClr>
                <a:srgbClr val="663300"/>
              </a:buClr>
              <a:buFont typeface="Wingdings" panose="05000000000000000000" pitchFamily="2" charset="2"/>
              <a:buChar char="u"/>
            </a:pPr>
            <a:r>
              <a:rPr lang="en-US" altLang="en-US" sz="2200" b="1"/>
              <a:t>Adder - Subtractor</a:t>
            </a:r>
          </a:p>
          <a:p>
            <a:pPr eaLnBrk="1" hangingPunct="1">
              <a:lnSpc>
                <a:spcPct val="90000"/>
              </a:lnSpc>
              <a:spcBef>
                <a:spcPct val="40000"/>
              </a:spcBef>
              <a:buClr>
                <a:srgbClr val="663300"/>
              </a:buClr>
              <a:buFont typeface="Wingdings" panose="05000000000000000000" pitchFamily="2" charset="2"/>
              <a:buChar char="u"/>
            </a:pPr>
            <a:r>
              <a:rPr lang="en-US" altLang="en-US" sz="2200" b="1"/>
              <a:t>Multiplier</a:t>
            </a:r>
          </a:p>
          <a:p>
            <a:pPr eaLnBrk="1" hangingPunct="1">
              <a:lnSpc>
                <a:spcPct val="90000"/>
              </a:lnSpc>
              <a:spcBef>
                <a:spcPct val="40000"/>
              </a:spcBef>
              <a:buClr>
                <a:srgbClr val="663300"/>
              </a:buClr>
              <a:buFont typeface="Wingdings" panose="05000000000000000000" pitchFamily="2" charset="2"/>
              <a:buChar char="u"/>
            </a:pPr>
            <a:r>
              <a:rPr lang="en-US" altLang="en-US" sz="2200" b="1"/>
              <a:t>Decoders-Encoders</a:t>
            </a:r>
          </a:p>
          <a:p>
            <a:pPr eaLnBrk="1" hangingPunct="1">
              <a:lnSpc>
                <a:spcPct val="90000"/>
              </a:lnSpc>
              <a:spcBef>
                <a:spcPct val="40000"/>
              </a:spcBef>
              <a:buClr>
                <a:srgbClr val="663300"/>
              </a:buClr>
              <a:buFont typeface="Wingdings" panose="05000000000000000000" pitchFamily="2" charset="2"/>
              <a:buChar char="u"/>
            </a:pPr>
            <a:r>
              <a:rPr lang="en-US" altLang="en-US" sz="2200" b="1"/>
              <a:t>Multiplexers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17F2D17B-A972-5813-E4D2-D4461746160F}"/>
              </a:ext>
            </a:extLst>
          </p:cNvPr>
          <p:cNvSpPr>
            <a:spLocks noGrp="1" noChangeArrowheads="1"/>
          </p:cNvSpPr>
          <p:nvPr>
            <p:ph type="title"/>
          </p:nvPr>
        </p:nvSpPr>
        <p:spPr>
          <a:xfrm>
            <a:off x="990600" y="304800"/>
            <a:ext cx="6934200" cy="822325"/>
          </a:xfrm>
        </p:spPr>
        <p:txBody>
          <a:bodyPr/>
          <a:lstStyle/>
          <a:p>
            <a:pPr eaLnBrk="1" fontAlgn="auto" hangingPunct="1">
              <a:spcAft>
                <a:spcPts val="0"/>
              </a:spcAft>
              <a:defRPr/>
            </a:pPr>
            <a:r>
              <a:rPr lang="en-US" sz="4000" dirty="0">
                <a:solidFill>
                  <a:schemeClr val="tx2">
                    <a:satMod val="130000"/>
                  </a:schemeClr>
                </a:solidFill>
              </a:rPr>
              <a:t>Combinational vs. Sequential</a:t>
            </a:r>
          </a:p>
        </p:txBody>
      </p:sp>
      <p:sp>
        <p:nvSpPr>
          <p:cNvPr id="11267" name="Rectangle 3">
            <a:extLst>
              <a:ext uri="{FF2B5EF4-FFF2-40B4-BE49-F238E27FC236}">
                <a16:creationId xmlns:a16="http://schemas.microsoft.com/office/drawing/2014/main" id="{5FBEAC9A-F90A-CC52-B2CE-876A86E14CE7}"/>
              </a:ext>
            </a:extLst>
          </p:cNvPr>
          <p:cNvSpPr>
            <a:spLocks noGrp="1" noChangeArrowheads="1"/>
          </p:cNvSpPr>
          <p:nvPr>
            <p:ph type="body" idx="1"/>
          </p:nvPr>
        </p:nvSpPr>
        <p:spPr>
          <a:xfrm>
            <a:off x="990600" y="1219200"/>
            <a:ext cx="7543800" cy="4800600"/>
          </a:xfrm>
        </p:spPr>
        <p:txBody>
          <a:bodyPr/>
          <a:lstStyle/>
          <a:p>
            <a:pPr eaLnBrk="1" hangingPunct="1">
              <a:lnSpc>
                <a:spcPct val="90000"/>
              </a:lnSpc>
              <a:buClr>
                <a:schemeClr val="tx2"/>
              </a:buClr>
              <a:buFont typeface="Wingdings" panose="05000000000000000000" pitchFamily="2" charset="2"/>
              <a:buChar char="§"/>
            </a:pPr>
            <a:r>
              <a:rPr lang="en-US" altLang="en-US" sz="2000" b="1"/>
              <a:t>Logic circuits for digital systems can be combinational or sequential.</a:t>
            </a:r>
          </a:p>
          <a:p>
            <a:pPr lvl="1" eaLnBrk="1" hangingPunct="1">
              <a:lnSpc>
                <a:spcPct val="90000"/>
              </a:lnSpc>
            </a:pPr>
            <a:r>
              <a:rPr lang="en-US" altLang="en-US" sz="2000" b="1"/>
              <a:t>A </a:t>
            </a:r>
            <a:r>
              <a:rPr lang="en-US" altLang="en-US" sz="2000" b="1">
                <a:solidFill>
                  <a:srgbClr val="FF5050"/>
                </a:solidFill>
              </a:rPr>
              <a:t>combinational circuit</a:t>
            </a:r>
            <a:r>
              <a:rPr lang="en-US" altLang="en-US" sz="2000" b="1"/>
              <a:t> consists of logic gates whose outputs at any time are determined from the present combination of inputs.</a:t>
            </a:r>
          </a:p>
          <a:p>
            <a:pPr lvl="2" eaLnBrk="1" hangingPunct="1">
              <a:lnSpc>
                <a:spcPct val="90000"/>
              </a:lnSpc>
            </a:pPr>
            <a:r>
              <a:rPr lang="en-US" altLang="en-US" sz="2000" b="1"/>
              <a:t>It performs an operation that can be specified logically by a set of Boolean functions.</a:t>
            </a:r>
          </a:p>
          <a:p>
            <a:pPr lvl="1" eaLnBrk="1" hangingPunct="1">
              <a:lnSpc>
                <a:spcPct val="90000"/>
              </a:lnSpc>
            </a:pPr>
            <a:r>
              <a:rPr lang="en-US" altLang="en-US" sz="2000" b="1">
                <a:solidFill>
                  <a:srgbClr val="FF5050"/>
                </a:solidFill>
              </a:rPr>
              <a:t>Sequential circuits</a:t>
            </a:r>
            <a:r>
              <a:rPr lang="en-US" altLang="en-US" sz="2000" b="1"/>
              <a:t> use storage elements in addition to gates and their outputs are a function of the inputs and the state of the storage elements.</a:t>
            </a:r>
          </a:p>
          <a:p>
            <a:pPr lvl="2" eaLnBrk="1" hangingPunct="1">
              <a:lnSpc>
                <a:spcPct val="90000"/>
              </a:lnSpc>
            </a:pPr>
            <a:r>
              <a:rPr lang="en-US" altLang="en-US" sz="2000" b="1"/>
              <a:t>The circuit behavior is based on timing sequences because the output value depends on the current input values and the previous input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38A3905F-9178-A01B-EF3B-9B764B2ECC4E}"/>
              </a:ext>
            </a:extLst>
          </p:cNvPr>
          <p:cNvSpPr>
            <a:spLocks noGrp="1" noChangeArrowheads="1"/>
          </p:cNvSpPr>
          <p:nvPr>
            <p:ph type="title"/>
          </p:nvPr>
        </p:nvSpPr>
        <p:spPr>
          <a:xfrm>
            <a:off x="990600" y="228600"/>
            <a:ext cx="7497763" cy="1143000"/>
          </a:xfrm>
        </p:spPr>
        <p:txBody>
          <a:bodyPr/>
          <a:lstStyle/>
          <a:p>
            <a:pPr eaLnBrk="1" fontAlgn="auto" hangingPunct="1">
              <a:spcAft>
                <a:spcPts val="0"/>
              </a:spcAft>
              <a:defRPr/>
            </a:pPr>
            <a:r>
              <a:rPr lang="en-US" dirty="0">
                <a:solidFill>
                  <a:schemeClr val="tx2">
                    <a:satMod val="130000"/>
                  </a:schemeClr>
                </a:solidFill>
              </a:rPr>
              <a:t>Combinational Circuits</a:t>
            </a:r>
          </a:p>
        </p:txBody>
      </p:sp>
      <p:sp>
        <p:nvSpPr>
          <p:cNvPr id="12291" name="Rectangle 3">
            <a:extLst>
              <a:ext uri="{FF2B5EF4-FFF2-40B4-BE49-F238E27FC236}">
                <a16:creationId xmlns:a16="http://schemas.microsoft.com/office/drawing/2014/main" id="{B37DE29C-CD0B-C22E-6C36-7970E38A2AE6}"/>
              </a:ext>
            </a:extLst>
          </p:cNvPr>
          <p:cNvSpPr>
            <a:spLocks noGrp="1" noChangeArrowheads="1"/>
          </p:cNvSpPr>
          <p:nvPr>
            <p:ph type="body" idx="1"/>
          </p:nvPr>
        </p:nvSpPr>
        <p:spPr>
          <a:xfrm>
            <a:off x="990600" y="1371600"/>
            <a:ext cx="7696200" cy="4800600"/>
          </a:xfrm>
        </p:spPr>
        <p:txBody>
          <a:bodyPr/>
          <a:lstStyle/>
          <a:p>
            <a:pPr eaLnBrk="1" hangingPunct="1">
              <a:buClr>
                <a:schemeClr val="tx2"/>
              </a:buClr>
            </a:pPr>
            <a:r>
              <a:rPr lang="en-US" altLang="en-US" sz="2000" b="1"/>
              <a:t>A </a:t>
            </a:r>
            <a:r>
              <a:rPr lang="en-US" altLang="en-US" sz="2000" b="1">
                <a:solidFill>
                  <a:srgbClr val="FF5050"/>
                </a:solidFill>
              </a:rPr>
              <a:t>combinational circuit</a:t>
            </a:r>
            <a:r>
              <a:rPr lang="en-US" altLang="en-US" sz="2000" b="1"/>
              <a:t> consists of:</a:t>
            </a:r>
          </a:p>
          <a:p>
            <a:pPr lvl="1" eaLnBrk="1" hangingPunct="1"/>
            <a:r>
              <a:rPr lang="en-US" altLang="en-US" sz="2000" b="1"/>
              <a:t>input variables.</a:t>
            </a:r>
          </a:p>
          <a:p>
            <a:pPr lvl="1" eaLnBrk="1" hangingPunct="1"/>
            <a:r>
              <a:rPr lang="en-US" altLang="en-US" sz="2000" b="1"/>
              <a:t>logic gates.</a:t>
            </a:r>
          </a:p>
          <a:p>
            <a:pPr lvl="1" eaLnBrk="1" hangingPunct="1"/>
            <a:r>
              <a:rPr lang="en-US" altLang="en-US" sz="2000" b="1"/>
              <a:t>output variables.</a:t>
            </a:r>
          </a:p>
          <a:p>
            <a:pPr eaLnBrk="1" hangingPunct="1">
              <a:buClr>
                <a:schemeClr val="tx2"/>
              </a:buClr>
            </a:pPr>
            <a:r>
              <a:rPr lang="en-US" altLang="en-US" sz="2000" b="1"/>
              <a:t>The logic gates take inputs and generate signals to the outputs.</a:t>
            </a:r>
          </a:p>
          <a:p>
            <a:pPr eaLnBrk="1" hangingPunct="1">
              <a:buClr>
                <a:schemeClr val="tx2"/>
              </a:buClr>
            </a:pPr>
            <a:r>
              <a:rPr lang="en-US" altLang="en-US" sz="2000" b="1"/>
              <a:t>Each input and output signal exists as a binary signal that represents logic-1 and logic-0.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6AF89F89-29F3-29C7-A6E7-87A53509D2EA}"/>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sz="4000" dirty="0">
                <a:solidFill>
                  <a:schemeClr val="tx2">
                    <a:satMod val="130000"/>
                  </a:schemeClr>
                </a:solidFill>
              </a:rPr>
              <a:t>Notes on Combinational Circuits</a:t>
            </a:r>
          </a:p>
        </p:txBody>
      </p:sp>
      <p:sp>
        <p:nvSpPr>
          <p:cNvPr id="13315" name="Rectangle 3">
            <a:extLst>
              <a:ext uri="{FF2B5EF4-FFF2-40B4-BE49-F238E27FC236}">
                <a16:creationId xmlns:a16="http://schemas.microsoft.com/office/drawing/2014/main" id="{2A936E16-01CB-0643-C711-61D166AE4F4B}"/>
              </a:ext>
            </a:extLst>
          </p:cNvPr>
          <p:cNvSpPr>
            <a:spLocks noGrp="1" noChangeArrowheads="1"/>
          </p:cNvSpPr>
          <p:nvPr>
            <p:ph type="body" idx="1"/>
          </p:nvPr>
        </p:nvSpPr>
        <p:spPr>
          <a:xfrm>
            <a:off x="990600" y="1524000"/>
            <a:ext cx="7543800" cy="3429000"/>
          </a:xfrm>
        </p:spPr>
        <p:txBody>
          <a:bodyPr/>
          <a:lstStyle/>
          <a:p>
            <a:pPr eaLnBrk="1" hangingPunct="1">
              <a:buClr>
                <a:schemeClr val="tx2"/>
              </a:buClr>
            </a:pPr>
            <a:r>
              <a:rPr lang="en-US" altLang="en-US" sz="2000" b="1"/>
              <a:t>For </a:t>
            </a:r>
            <a:r>
              <a:rPr lang="en-US" altLang="en-US" sz="2000" b="1" i="1"/>
              <a:t>n</a:t>
            </a:r>
            <a:r>
              <a:rPr lang="en-US" altLang="en-US" sz="2000" b="1"/>
              <a:t> input variables, there are </a:t>
            </a:r>
            <a:r>
              <a:rPr lang="en-US" altLang="en-US" sz="2000" b="1" i="1"/>
              <a:t>2</a:t>
            </a:r>
            <a:r>
              <a:rPr lang="en-US" altLang="en-US" sz="2000" b="1" i="1" baseline="30000"/>
              <a:t>n</a:t>
            </a:r>
            <a:r>
              <a:rPr lang="en-US" altLang="en-US" sz="2000" b="1"/>
              <a:t> possible binary input combinations.</a:t>
            </a:r>
          </a:p>
          <a:p>
            <a:pPr eaLnBrk="1" hangingPunct="1">
              <a:buClr>
                <a:schemeClr val="tx2"/>
              </a:buClr>
            </a:pPr>
            <a:r>
              <a:rPr lang="en-US" altLang="en-US" sz="2000" b="1"/>
              <a:t>For each combination of inputs, there is only one output value.</a:t>
            </a:r>
          </a:p>
          <a:p>
            <a:pPr eaLnBrk="1" hangingPunct="1">
              <a:buClr>
                <a:schemeClr val="tx2"/>
              </a:buClr>
            </a:pPr>
            <a:r>
              <a:rPr lang="en-US" altLang="en-US" sz="2000" b="1"/>
              <a:t>A combinational circuit can be specified by:</a:t>
            </a:r>
          </a:p>
          <a:p>
            <a:pPr lvl="1" eaLnBrk="1" hangingPunct="1"/>
            <a:r>
              <a:rPr lang="en-US" altLang="en-US" sz="2000" b="1"/>
              <a:t>a single truth table.</a:t>
            </a:r>
          </a:p>
          <a:p>
            <a:pPr lvl="1" eaLnBrk="1" hangingPunct="1"/>
            <a:r>
              <a:rPr lang="en-US" altLang="en-US" sz="2000" b="1" i="1"/>
              <a:t>m</a:t>
            </a:r>
            <a:r>
              <a:rPr lang="en-US" altLang="en-US" sz="2000" b="1"/>
              <a:t> Boolean functions, one for each output variable.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1D36EDD1-D3FC-BC8D-E4F0-8EFAADF0DBBE}"/>
              </a:ext>
            </a:extLst>
          </p:cNvPr>
          <p:cNvSpPr>
            <a:spLocks noGrp="1" noChangeArrowheads="1"/>
          </p:cNvSpPr>
          <p:nvPr>
            <p:ph type="title"/>
          </p:nvPr>
        </p:nvSpPr>
        <p:spPr>
          <a:xfrm>
            <a:off x="990600" y="228600"/>
            <a:ext cx="7497763" cy="1143000"/>
          </a:xfrm>
        </p:spPr>
        <p:txBody>
          <a:bodyPr/>
          <a:lstStyle/>
          <a:p>
            <a:pPr eaLnBrk="1" fontAlgn="auto" hangingPunct="1">
              <a:spcAft>
                <a:spcPts val="0"/>
              </a:spcAft>
              <a:defRPr/>
            </a:pPr>
            <a:r>
              <a:rPr lang="en-US" dirty="0">
                <a:solidFill>
                  <a:schemeClr val="tx2">
                    <a:satMod val="130000"/>
                  </a:schemeClr>
                </a:solidFill>
              </a:rPr>
              <a:t>Integrated Circuits</a:t>
            </a:r>
          </a:p>
        </p:txBody>
      </p:sp>
      <p:sp>
        <p:nvSpPr>
          <p:cNvPr id="14339" name="Rectangle 3">
            <a:extLst>
              <a:ext uri="{FF2B5EF4-FFF2-40B4-BE49-F238E27FC236}">
                <a16:creationId xmlns:a16="http://schemas.microsoft.com/office/drawing/2014/main" id="{F0640060-D385-B26B-7454-B2FD7319DB31}"/>
              </a:ext>
            </a:extLst>
          </p:cNvPr>
          <p:cNvSpPr>
            <a:spLocks noGrp="1" noChangeArrowheads="1"/>
          </p:cNvSpPr>
          <p:nvPr>
            <p:ph type="body" idx="1"/>
          </p:nvPr>
        </p:nvSpPr>
        <p:spPr>
          <a:xfrm>
            <a:off x="990600" y="1447800"/>
            <a:ext cx="7497763" cy="4800600"/>
          </a:xfrm>
        </p:spPr>
        <p:txBody>
          <a:bodyPr/>
          <a:lstStyle/>
          <a:p>
            <a:pPr eaLnBrk="1" hangingPunct="1">
              <a:lnSpc>
                <a:spcPct val="90000"/>
              </a:lnSpc>
              <a:buClr>
                <a:schemeClr val="tx2"/>
              </a:buClr>
            </a:pPr>
            <a:r>
              <a:rPr lang="en-US" altLang="en-US" sz="2000" b="1"/>
              <a:t>There are a number of combinational circuits that are used quite often in the design of digital systems.</a:t>
            </a:r>
          </a:p>
          <a:p>
            <a:pPr lvl="1" eaLnBrk="1" hangingPunct="1">
              <a:lnSpc>
                <a:spcPct val="90000"/>
              </a:lnSpc>
            </a:pPr>
            <a:r>
              <a:rPr lang="en-US" altLang="en-US" sz="2000" b="1"/>
              <a:t>These circuits are available in integrated circuits and are classified as standard components.</a:t>
            </a:r>
          </a:p>
          <a:p>
            <a:pPr eaLnBrk="1" hangingPunct="1">
              <a:lnSpc>
                <a:spcPct val="90000"/>
              </a:lnSpc>
              <a:buClr>
                <a:schemeClr val="tx2"/>
              </a:buClr>
            </a:pPr>
            <a:r>
              <a:rPr lang="en-US" altLang="en-US" sz="2000" b="1"/>
              <a:t>some of the most important standard combinational circuits including:</a:t>
            </a:r>
          </a:p>
          <a:p>
            <a:pPr lvl="1" eaLnBrk="1" hangingPunct="1">
              <a:lnSpc>
                <a:spcPct val="90000"/>
              </a:lnSpc>
            </a:pPr>
            <a:r>
              <a:rPr lang="en-US" altLang="en-US" sz="2000" b="1"/>
              <a:t>Adders.</a:t>
            </a:r>
          </a:p>
          <a:p>
            <a:pPr lvl="1" eaLnBrk="1" hangingPunct="1">
              <a:lnSpc>
                <a:spcPct val="90000"/>
              </a:lnSpc>
            </a:pPr>
            <a:r>
              <a:rPr lang="en-US" altLang="en-US" sz="2000" b="1"/>
              <a:t>Subtractors.</a:t>
            </a:r>
          </a:p>
          <a:p>
            <a:pPr lvl="1" eaLnBrk="1" hangingPunct="1">
              <a:lnSpc>
                <a:spcPct val="90000"/>
              </a:lnSpc>
            </a:pPr>
            <a:r>
              <a:rPr lang="en-US" altLang="en-US" sz="2000" b="1"/>
              <a:t>Comparators.</a:t>
            </a:r>
          </a:p>
          <a:p>
            <a:pPr lvl="1" eaLnBrk="1" hangingPunct="1">
              <a:lnSpc>
                <a:spcPct val="90000"/>
              </a:lnSpc>
            </a:pPr>
            <a:r>
              <a:rPr lang="en-US" altLang="en-US" sz="2000" b="1"/>
              <a:t>Decoders.</a:t>
            </a:r>
          </a:p>
          <a:p>
            <a:pPr lvl="1" eaLnBrk="1" hangingPunct="1">
              <a:lnSpc>
                <a:spcPct val="90000"/>
              </a:lnSpc>
            </a:pPr>
            <a:r>
              <a:rPr lang="en-US" altLang="en-US" sz="2000" b="1"/>
              <a:t>Encoders.</a:t>
            </a:r>
          </a:p>
          <a:p>
            <a:pPr lvl="1" eaLnBrk="1" hangingPunct="1">
              <a:lnSpc>
                <a:spcPct val="90000"/>
              </a:lnSpc>
            </a:pPr>
            <a:r>
              <a:rPr lang="en-US" altLang="en-US" sz="2000" b="1"/>
              <a:t>multiplexers.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FAC08F1B-A8CD-0483-82B2-52C3CEDE873B}"/>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Analysis Procedure</a:t>
            </a:r>
          </a:p>
        </p:txBody>
      </p:sp>
      <p:sp>
        <p:nvSpPr>
          <p:cNvPr id="15363" name="Rectangle 3">
            <a:extLst>
              <a:ext uri="{FF2B5EF4-FFF2-40B4-BE49-F238E27FC236}">
                <a16:creationId xmlns:a16="http://schemas.microsoft.com/office/drawing/2014/main" id="{5CC8A2ED-B2B3-603E-BD87-D90FA2F5288D}"/>
              </a:ext>
            </a:extLst>
          </p:cNvPr>
          <p:cNvSpPr>
            <a:spLocks noGrp="1" noChangeArrowheads="1"/>
          </p:cNvSpPr>
          <p:nvPr>
            <p:ph type="body" idx="1"/>
          </p:nvPr>
        </p:nvSpPr>
        <p:spPr>
          <a:xfrm>
            <a:off x="990600" y="1447800"/>
            <a:ext cx="7924800" cy="3657600"/>
          </a:xfrm>
        </p:spPr>
        <p:txBody>
          <a:bodyPr/>
          <a:lstStyle/>
          <a:p>
            <a:pPr marL="80963" indent="0" eaLnBrk="1" hangingPunct="1">
              <a:buFont typeface="Wingdings 2" panose="05020102010507070707" pitchFamily="18" charset="2"/>
              <a:buNone/>
            </a:pPr>
            <a:r>
              <a:rPr lang="en-US" altLang="en-US" sz="2000" b="1"/>
              <a:t>The analysis of a combinational circuit requires that we determine the function that the circuit implements:</a:t>
            </a:r>
          </a:p>
          <a:p>
            <a:pPr marL="80963" indent="0" eaLnBrk="1" hangingPunct="1">
              <a:buFont typeface="Wingdings 2" panose="05020102010507070707" pitchFamily="18" charset="2"/>
              <a:buNone/>
            </a:pPr>
            <a:endParaRPr lang="en-US" altLang="en-US" sz="1000" b="1"/>
          </a:p>
          <a:p>
            <a:pPr lvl="1" eaLnBrk="1" hangingPunct="1"/>
            <a:r>
              <a:rPr lang="en-US" altLang="en-US" sz="2000" b="1"/>
              <a:t>The first step is to ensure that the circuit is combinational and not sequential.</a:t>
            </a:r>
          </a:p>
          <a:p>
            <a:pPr lvl="3" eaLnBrk="1" hangingPunct="1">
              <a:buClr>
                <a:schemeClr val="tx2"/>
              </a:buClr>
            </a:pPr>
            <a:r>
              <a:rPr lang="en-US" altLang="en-US" sz="1600" b="1"/>
              <a:t>Combinational circuits have no memory elements and no feedback paths.</a:t>
            </a:r>
          </a:p>
          <a:p>
            <a:pPr lvl="1" eaLnBrk="1" hangingPunct="1"/>
            <a:r>
              <a:rPr lang="en-US" altLang="en-US" sz="2000" b="1"/>
              <a:t>The second step is to determine the Boolean functions or truth table.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93497620-20D6-F81F-7B36-AE8D1CAF3463}"/>
              </a:ext>
            </a:extLst>
          </p:cNvPr>
          <p:cNvSpPr>
            <a:spLocks noGrp="1" noChangeArrowheads="1"/>
          </p:cNvSpPr>
          <p:nvPr>
            <p:ph type="title"/>
          </p:nvPr>
        </p:nvSpPr>
        <p:spPr>
          <a:xfrm>
            <a:off x="990600" y="228600"/>
            <a:ext cx="7497763" cy="1143000"/>
          </a:xfrm>
        </p:spPr>
        <p:txBody>
          <a:bodyPr/>
          <a:lstStyle/>
          <a:p>
            <a:pPr eaLnBrk="1" fontAlgn="auto" hangingPunct="1">
              <a:spcAft>
                <a:spcPts val="0"/>
              </a:spcAft>
              <a:defRPr/>
            </a:pPr>
            <a:r>
              <a:rPr lang="en-US" sz="4000" dirty="0">
                <a:solidFill>
                  <a:schemeClr val="tx2">
                    <a:satMod val="130000"/>
                  </a:schemeClr>
                </a:solidFill>
              </a:rPr>
              <a:t>Obtaining Boolean Functions</a:t>
            </a:r>
          </a:p>
        </p:txBody>
      </p:sp>
      <p:sp>
        <p:nvSpPr>
          <p:cNvPr id="16387" name="Rectangle 3">
            <a:extLst>
              <a:ext uri="{FF2B5EF4-FFF2-40B4-BE49-F238E27FC236}">
                <a16:creationId xmlns:a16="http://schemas.microsoft.com/office/drawing/2014/main" id="{26D4B066-EA17-8F73-51C0-FE9B173E3E78}"/>
              </a:ext>
            </a:extLst>
          </p:cNvPr>
          <p:cNvSpPr>
            <a:spLocks noGrp="1" noChangeArrowheads="1"/>
          </p:cNvSpPr>
          <p:nvPr>
            <p:ph type="body" idx="1"/>
          </p:nvPr>
        </p:nvSpPr>
        <p:spPr>
          <a:xfrm>
            <a:off x="990600" y="1349375"/>
            <a:ext cx="7696200" cy="4594225"/>
          </a:xfrm>
        </p:spPr>
        <p:txBody>
          <a:bodyPr/>
          <a:lstStyle/>
          <a:p>
            <a:pPr marL="80963" indent="0" eaLnBrk="1" hangingPunct="1">
              <a:lnSpc>
                <a:spcPct val="90000"/>
              </a:lnSpc>
              <a:buFont typeface="Wingdings 2" panose="05020102010507070707" pitchFamily="18" charset="2"/>
              <a:buNone/>
            </a:pPr>
            <a:r>
              <a:rPr lang="en-US" altLang="en-US" sz="2000" b="1"/>
              <a:t>To obtain the output Boolean functions from a circuit diagram:</a:t>
            </a:r>
          </a:p>
          <a:p>
            <a:pPr lvl="1" eaLnBrk="1" hangingPunct="1">
              <a:lnSpc>
                <a:spcPct val="90000"/>
              </a:lnSpc>
            </a:pPr>
            <a:r>
              <a:rPr lang="en-US" altLang="en-US" sz="2000" b="1"/>
              <a:t>Label all gate outputs that are a function of input variables with arbitrary symbols and determine the Boolean functions for each gate output.</a:t>
            </a:r>
          </a:p>
          <a:p>
            <a:pPr lvl="1" eaLnBrk="1" hangingPunct="1">
              <a:lnSpc>
                <a:spcPct val="90000"/>
              </a:lnSpc>
            </a:pPr>
            <a:r>
              <a:rPr lang="en-US" altLang="en-US" sz="2000" b="1"/>
              <a:t>Label the gates that are a function of input variables and previously labeled gates with other arbitrary symbols, and find the Boolean functions for these gates.</a:t>
            </a:r>
          </a:p>
          <a:p>
            <a:pPr lvl="1" eaLnBrk="1" hangingPunct="1">
              <a:lnSpc>
                <a:spcPct val="90000"/>
              </a:lnSpc>
            </a:pPr>
            <a:r>
              <a:rPr lang="en-US" altLang="en-US" sz="2000" b="1"/>
              <a:t>Repeat the process outlined in step 2 until the outputs of the circuit are obtained.</a:t>
            </a:r>
          </a:p>
          <a:p>
            <a:pPr lvl="1" eaLnBrk="1" hangingPunct="1">
              <a:lnSpc>
                <a:spcPct val="90000"/>
              </a:lnSpc>
            </a:pPr>
            <a:r>
              <a:rPr lang="en-US" altLang="en-US" sz="2000" b="1"/>
              <a:t>By repeated substitutions of previously defined functions, obtain the output Boolean functions in terms of input variables.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6399738F-8EBB-9F6E-45F6-9817A79D2023}"/>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An Example</a:t>
            </a:r>
          </a:p>
        </p:txBody>
      </p:sp>
      <p:pic>
        <p:nvPicPr>
          <p:cNvPr id="17411" name="Picture 4" descr="Figure42">
            <a:extLst>
              <a:ext uri="{FF2B5EF4-FFF2-40B4-BE49-F238E27FC236}">
                <a16:creationId xmlns:a16="http://schemas.microsoft.com/office/drawing/2014/main" id="{48455B7B-A5BF-385F-75DF-7B729CFF39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52538" y="1516063"/>
            <a:ext cx="6562725" cy="3613150"/>
          </a:xfrm>
        </p:spPr>
      </p:pic>
      <p:sp>
        <p:nvSpPr>
          <p:cNvPr id="356358" name="Text Box 6">
            <a:extLst>
              <a:ext uri="{FF2B5EF4-FFF2-40B4-BE49-F238E27FC236}">
                <a16:creationId xmlns:a16="http://schemas.microsoft.com/office/drawing/2014/main" id="{E4292264-405B-9B8B-5718-478C8FA1C18A}"/>
              </a:ext>
            </a:extLst>
          </p:cNvPr>
          <p:cNvSpPr txBox="1">
            <a:spLocks noChangeArrowheads="1"/>
          </p:cNvSpPr>
          <p:nvPr/>
        </p:nvSpPr>
        <p:spPr bwMode="auto">
          <a:xfrm>
            <a:off x="2659063" y="1447800"/>
            <a:ext cx="388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t>
            </a:r>
            <a:r>
              <a:rPr lang="en-US" altLang="en-US" sz="1700" b="1" baseline="-25000">
                <a:latin typeface="Times New Roman" panose="02020603050405020304" pitchFamily="18" charset="0"/>
                <a:cs typeface="Times New Roman" panose="02020603050405020304" pitchFamily="18" charset="0"/>
              </a:rPr>
              <a:t>2</a:t>
            </a:r>
          </a:p>
        </p:txBody>
      </p:sp>
      <p:sp>
        <p:nvSpPr>
          <p:cNvPr id="356359" name="Rectangle 7">
            <a:extLst>
              <a:ext uri="{FF2B5EF4-FFF2-40B4-BE49-F238E27FC236}">
                <a16:creationId xmlns:a16="http://schemas.microsoft.com/office/drawing/2014/main" id="{33C2AC80-AC44-D561-FE69-59D975D7BC3B}"/>
              </a:ext>
            </a:extLst>
          </p:cNvPr>
          <p:cNvSpPr>
            <a:spLocks noChangeArrowheads="1"/>
          </p:cNvSpPr>
          <p:nvPr/>
        </p:nvSpPr>
        <p:spPr bwMode="auto">
          <a:xfrm>
            <a:off x="2659063" y="2178050"/>
            <a:ext cx="388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t>T</a:t>
            </a:r>
            <a:r>
              <a:rPr lang="en-US" altLang="en-US" sz="1700" b="1" baseline="-25000"/>
              <a:t>1</a:t>
            </a:r>
          </a:p>
        </p:txBody>
      </p:sp>
      <p:sp>
        <p:nvSpPr>
          <p:cNvPr id="356360" name="Rectangle 8">
            <a:extLst>
              <a:ext uri="{FF2B5EF4-FFF2-40B4-BE49-F238E27FC236}">
                <a16:creationId xmlns:a16="http://schemas.microsoft.com/office/drawing/2014/main" id="{C7A071B0-8C65-74F8-6047-40A1B84984BE}"/>
              </a:ext>
            </a:extLst>
          </p:cNvPr>
          <p:cNvSpPr>
            <a:spLocks noChangeArrowheads="1"/>
          </p:cNvSpPr>
          <p:nvPr/>
        </p:nvSpPr>
        <p:spPr bwMode="auto">
          <a:xfrm>
            <a:off x="5783263" y="2895600"/>
            <a:ext cx="388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t>T</a:t>
            </a:r>
            <a:r>
              <a:rPr lang="en-US" altLang="en-US" sz="1700" b="1" baseline="-25000"/>
              <a:t>3</a:t>
            </a:r>
          </a:p>
        </p:txBody>
      </p:sp>
      <p:sp>
        <p:nvSpPr>
          <p:cNvPr id="356361" name="Rectangle 9">
            <a:extLst>
              <a:ext uri="{FF2B5EF4-FFF2-40B4-BE49-F238E27FC236}">
                <a16:creationId xmlns:a16="http://schemas.microsoft.com/office/drawing/2014/main" id="{74EB8ECE-A42E-E713-8418-5C59CB5EED6D}"/>
              </a:ext>
            </a:extLst>
          </p:cNvPr>
          <p:cNvSpPr>
            <a:spLocks noChangeArrowheads="1"/>
          </p:cNvSpPr>
          <p:nvPr/>
        </p:nvSpPr>
        <p:spPr bwMode="auto">
          <a:xfrm>
            <a:off x="2138363" y="5286375"/>
            <a:ext cx="2281237" cy="131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000" b="1"/>
              <a:t>T</a:t>
            </a:r>
            <a:r>
              <a:rPr lang="en-US" altLang="en-US" sz="2000" b="1" baseline="-25000"/>
              <a:t>1</a:t>
            </a:r>
            <a:r>
              <a:rPr lang="en-US" altLang="en-US" sz="1600" b="1"/>
              <a:t> = A + B + C</a:t>
            </a:r>
          </a:p>
          <a:p>
            <a:pPr eaLnBrk="1" hangingPunct="1"/>
            <a:r>
              <a:rPr lang="en-US" altLang="en-US" sz="1600" b="1"/>
              <a:t>T</a:t>
            </a:r>
            <a:r>
              <a:rPr lang="en-US" altLang="en-US" sz="1700" b="1" baseline="-25000"/>
              <a:t>2</a:t>
            </a:r>
            <a:r>
              <a:rPr lang="en-US" altLang="en-US" sz="1600" b="1"/>
              <a:t> = ABC</a:t>
            </a:r>
          </a:p>
          <a:p>
            <a:pPr eaLnBrk="1" hangingPunct="1"/>
            <a:r>
              <a:rPr lang="en-US" altLang="en-US" sz="1600" b="1"/>
              <a:t>F</a:t>
            </a:r>
            <a:r>
              <a:rPr lang="en-US" altLang="en-US" sz="1700" b="1" baseline="-25000"/>
              <a:t>2</a:t>
            </a:r>
            <a:r>
              <a:rPr lang="en-US" altLang="en-US" sz="1600" b="1"/>
              <a:t> = AB + AC + BC</a:t>
            </a:r>
            <a:endParaRPr lang="en-US" altLang="en-US" sz="1700" b="1" baseline="-25000"/>
          </a:p>
          <a:p>
            <a:pPr eaLnBrk="1" hangingPunct="1"/>
            <a:endParaRPr lang="en-US" altLang="en-US" sz="1600" b="1"/>
          </a:p>
          <a:p>
            <a:pPr eaLnBrk="1" hangingPunct="1"/>
            <a:endParaRPr lang="en-US" altLang="en-US" sz="1700" b="1" baseline="-25000"/>
          </a:p>
        </p:txBody>
      </p:sp>
      <p:sp>
        <p:nvSpPr>
          <p:cNvPr id="356362" name="Rectangle 10">
            <a:extLst>
              <a:ext uri="{FF2B5EF4-FFF2-40B4-BE49-F238E27FC236}">
                <a16:creationId xmlns:a16="http://schemas.microsoft.com/office/drawing/2014/main" id="{5AB474C8-99CD-0155-3053-9F6818308A21}"/>
              </a:ext>
            </a:extLst>
          </p:cNvPr>
          <p:cNvSpPr>
            <a:spLocks noChangeArrowheads="1"/>
          </p:cNvSpPr>
          <p:nvPr/>
        </p:nvSpPr>
        <p:spPr bwMode="auto">
          <a:xfrm>
            <a:off x="5807075" y="5316538"/>
            <a:ext cx="2090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000" b="1"/>
              <a:t>T</a:t>
            </a:r>
            <a:r>
              <a:rPr lang="en-US" altLang="en-US" sz="2000" b="1" baseline="-25000"/>
              <a:t>3</a:t>
            </a:r>
            <a:r>
              <a:rPr lang="en-US" altLang="en-US" sz="2000" b="1"/>
              <a:t> = F</a:t>
            </a:r>
            <a:r>
              <a:rPr lang="en-US" altLang="en-US" sz="2000" b="1" baseline="-25000"/>
              <a:t>2</a:t>
            </a:r>
            <a:r>
              <a:rPr lang="en-US" altLang="en-US" sz="2000" b="1"/>
              <a:t>’T1</a:t>
            </a:r>
          </a:p>
          <a:p>
            <a:pPr eaLnBrk="1" hangingPunct="1"/>
            <a:r>
              <a:rPr lang="en-US" altLang="en-US" sz="2000" b="1"/>
              <a:t>F</a:t>
            </a:r>
            <a:r>
              <a:rPr lang="en-US" altLang="en-US" sz="2000" b="1" baseline="-25000"/>
              <a:t>1</a:t>
            </a:r>
            <a:r>
              <a:rPr lang="en-US" altLang="en-US" sz="2000" b="1"/>
              <a:t> = T</a:t>
            </a:r>
            <a:r>
              <a:rPr lang="en-US" altLang="en-US" sz="2000" b="1" baseline="-25000"/>
              <a:t>3</a:t>
            </a:r>
            <a:r>
              <a:rPr lang="en-US" altLang="en-US" sz="2000" b="1"/>
              <a:t> + T</a:t>
            </a:r>
            <a:r>
              <a:rPr lang="en-US" altLang="en-US" sz="2000" b="1" baseline="-25000"/>
              <a:t>2</a:t>
            </a:r>
          </a:p>
        </p:txBody>
      </p:sp>
      <p:sp>
        <p:nvSpPr>
          <p:cNvPr id="356363" name="Rectangle 11">
            <a:extLst>
              <a:ext uri="{FF2B5EF4-FFF2-40B4-BE49-F238E27FC236}">
                <a16:creationId xmlns:a16="http://schemas.microsoft.com/office/drawing/2014/main" id="{731988E8-B592-BEC7-E9E3-81D0E71392DA}"/>
              </a:ext>
            </a:extLst>
          </p:cNvPr>
          <p:cNvSpPr>
            <a:spLocks noChangeArrowheads="1"/>
          </p:cNvSpPr>
          <p:nvPr/>
        </p:nvSpPr>
        <p:spPr bwMode="auto">
          <a:xfrm>
            <a:off x="4662488" y="3200400"/>
            <a:ext cx="446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t>F</a:t>
            </a:r>
            <a:r>
              <a:rPr lang="en-US" altLang="en-US" sz="1700" b="1" baseline="-25000"/>
              <a:t>2</a:t>
            </a:r>
            <a:r>
              <a:rPr lang="en-US" altLang="en-US" sz="1600" b="1"/>
              <a:t>’</a:t>
            </a:r>
            <a:endParaRPr lang="en-US" altLang="en-US" sz="1700" b="1" baseline="-25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356360"/>
                                        </p:tgtEl>
                                        <p:attrNameLst>
                                          <p:attrName>style.visibility</p:attrName>
                                        </p:attrNameLst>
                                      </p:cBhvr>
                                      <p:to>
                                        <p:strVal val="visible"/>
                                      </p:to>
                                    </p:set>
                                    <p:anim calcmode="lin" valueType="num">
                                      <p:cBhvr additive="base">
                                        <p:cTn id="7" dur="500" fill="hold"/>
                                        <p:tgtEl>
                                          <p:spTgt spid="356360"/>
                                        </p:tgtEl>
                                        <p:attrNameLst>
                                          <p:attrName>ppt_x</p:attrName>
                                        </p:attrNameLst>
                                      </p:cBhvr>
                                      <p:tavLst>
                                        <p:tav tm="0">
                                          <p:val>
                                            <p:strVal val="0-#ppt_w/2"/>
                                          </p:val>
                                        </p:tav>
                                        <p:tav tm="100000">
                                          <p:val>
                                            <p:strVal val="#ppt_x"/>
                                          </p:val>
                                        </p:tav>
                                      </p:tavLst>
                                    </p:anim>
                                    <p:anim calcmode="lin" valueType="num">
                                      <p:cBhvr additive="base">
                                        <p:cTn id="8" dur="500" fill="hold"/>
                                        <p:tgtEl>
                                          <p:spTgt spid="356360"/>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9" fill="hold" grpId="0" nodeType="afterEffect">
                                  <p:stCondLst>
                                    <p:cond delay="0"/>
                                  </p:stCondLst>
                                  <p:childTnLst>
                                    <p:set>
                                      <p:cBhvr>
                                        <p:cTn id="11" dur="1" fill="hold">
                                          <p:stCondLst>
                                            <p:cond delay="0"/>
                                          </p:stCondLst>
                                        </p:cTn>
                                        <p:tgtEl>
                                          <p:spTgt spid="356359"/>
                                        </p:tgtEl>
                                        <p:attrNameLst>
                                          <p:attrName>style.visibility</p:attrName>
                                        </p:attrNameLst>
                                      </p:cBhvr>
                                      <p:to>
                                        <p:strVal val="visible"/>
                                      </p:to>
                                    </p:set>
                                    <p:anim calcmode="lin" valueType="num">
                                      <p:cBhvr additive="base">
                                        <p:cTn id="12" dur="500" fill="hold"/>
                                        <p:tgtEl>
                                          <p:spTgt spid="356359"/>
                                        </p:tgtEl>
                                        <p:attrNameLst>
                                          <p:attrName>ppt_x</p:attrName>
                                        </p:attrNameLst>
                                      </p:cBhvr>
                                      <p:tavLst>
                                        <p:tav tm="0">
                                          <p:val>
                                            <p:strVal val="0-#ppt_w/2"/>
                                          </p:val>
                                        </p:tav>
                                        <p:tav tm="100000">
                                          <p:val>
                                            <p:strVal val="#ppt_x"/>
                                          </p:val>
                                        </p:tav>
                                      </p:tavLst>
                                    </p:anim>
                                    <p:anim calcmode="lin" valueType="num">
                                      <p:cBhvr additive="base">
                                        <p:cTn id="13" dur="500" fill="hold"/>
                                        <p:tgtEl>
                                          <p:spTgt spid="356359"/>
                                        </p:tgtEl>
                                        <p:attrNameLst>
                                          <p:attrName>ppt_y</p:attrName>
                                        </p:attrNameLst>
                                      </p:cBhvr>
                                      <p:tavLst>
                                        <p:tav tm="0">
                                          <p:val>
                                            <p:strVal val="0-#ppt_h/2"/>
                                          </p:val>
                                        </p:tav>
                                        <p:tav tm="100000">
                                          <p:val>
                                            <p:strVal val="#ppt_y"/>
                                          </p:val>
                                        </p:tav>
                                      </p:tavLst>
                                    </p:anim>
                                  </p:childTnLst>
                                </p:cTn>
                              </p:par>
                            </p:childTnLst>
                          </p:cTn>
                        </p:par>
                        <p:par>
                          <p:cTn id="14" fill="hold" nodeType="afterGroup">
                            <p:stCondLst>
                              <p:cond delay="1000"/>
                            </p:stCondLst>
                            <p:childTnLst>
                              <p:par>
                                <p:cTn id="15" presetID="2" presetClass="entr" presetSubtype="9" fill="hold" grpId="0" nodeType="afterEffect">
                                  <p:stCondLst>
                                    <p:cond delay="0"/>
                                  </p:stCondLst>
                                  <p:childTnLst>
                                    <p:set>
                                      <p:cBhvr>
                                        <p:cTn id="16" dur="1" fill="hold">
                                          <p:stCondLst>
                                            <p:cond delay="0"/>
                                          </p:stCondLst>
                                        </p:cTn>
                                        <p:tgtEl>
                                          <p:spTgt spid="356358"/>
                                        </p:tgtEl>
                                        <p:attrNameLst>
                                          <p:attrName>style.visibility</p:attrName>
                                        </p:attrNameLst>
                                      </p:cBhvr>
                                      <p:to>
                                        <p:strVal val="visible"/>
                                      </p:to>
                                    </p:set>
                                    <p:anim calcmode="lin" valueType="num">
                                      <p:cBhvr additive="base">
                                        <p:cTn id="17" dur="500" fill="hold"/>
                                        <p:tgtEl>
                                          <p:spTgt spid="356358"/>
                                        </p:tgtEl>
                                        <p:attrNameLst>
                                          <p:attrName>ppt_x</p:attrName>
                                        </p:attrNameLst>
                                      </p:cBhvr>
                                      <p:tavLst>
                                        <p:tav tm="0">
                                          <p:val>
                                            <p:strVal val="0-#ppt_w/2"/>
                                          </p:val>
                                        </p:tav>
                                        <p:tav tm="100000">
                                          <p:val>
                                            <p:strVal val="#ppt_x"/>
                                          </p:val>
                                        </p:tav>
                                      </p:tavLst>
                                    </p:anim>
                                    <p:anim calcmode="lin" valueType="num">
                                      <p:cBhvr additive="base">
                                        <p:cTn id="18" dur="500" fill="hold"/>
                                        <p:tgtEl>
                                          <p:spTgt spid="356358"/>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5636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56363"/>
                                        </p:tgtEl>
                                        <p:attrNameLst>
                                          <p:attrName>style.visibility</p:attrName>
                                        </p:attrNameLst>
                                      </p:cBhvr>
                                      <p:to>
                                        <p:strVal val="visible"/>
                                      </p:to>
                                    </p:set>
                                    <p:anim calcmode="lin" valueType="num">
                                      <p:cBhvr additive="base">
                                        <p:cTn id="27" dur="500" fill="hold"/>
                                        <p:tgtEl>
                                          <p:spTgt spid="356363"/>
                                        </p:tgtEl>
                                        <p:attrNameLst>
                                          <p:attrName>ppt_x</p:attrName>
                                        </p:attrNameLst>
                                      </p:cBhvr>
                                      <p:tavLst>
                                        <p:tav tm="0">
                                          <p:val>
                                            <p:strVal val="#ppt_x"/>
                                          </p:val>
                                        </p:tav>
                                        <p:tav tm="100000">
                                          <p:val>
                                            <p:strVal val="#ppt_x"/>
                                          </p:val>
                                        </p:tav>
                                      </p:tavLst>
                                    </p:anim>
                                    <p:anim calcmode="lin" valueType="num">
                                      <p:cBhvr additive="base">
                                        <p:cTn id="28" dur="500" fill="hold"/>
                                        <p:tgtEl>
                                          <p:spTgt spid="356363"/>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356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8" grpId="0" autoUpdateAnimBg="0"/>
      <p:bldP spid="356359" grpId="0" autoUpdateAnimBg="0"/>
      <p:bldP spid="356360" grpId="0" autoUpdateAnimBg="0"/>
      <p:bldP spid="356361" grpId="0" autoUpdateAnimBg="0"/>
      <p:bldP spid="356362" grpId="0" autoUpdateAnimBg="0"/>
      <p:bldP spid="35636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FC9FE1C7-B684-8630-AD91-B44D4D578236}"/>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Example Continued</a:t>
            </a:r>
          </a:p>
        </p:txBody>
      </p:sp>
      <p:sp>
        <p:nvSpPr>
          <p:cNvPr id="18435" name="Rectangle 3">
            <a:extLst>
              <a:ext uri="{FF2B5EF4-FFF2-40B4-BE49-F238E27FC236}">
                <a16:creationId xmlns:a16="http://schemas.microsoft.com/office/drawing/2014/main" id="{7509F20B-7812-C024-DDD4-B2DE106DF8E3}"/>
              </a:ext>
            </a:extLst>
          </p:cNvPr>
          <p:cNvSpPr>
            <a:spLocks noGrp="1" noChangeArrowheads="1"/>
          </p:cNvSpPr>
          <p:nvPr>
            <p:ph type="body" idx="1"/>
          </p:nvPr>
        </p:nvSpPr>
        <p:spPr>
          <a:xfrm>
            <a:off x="990600" y="1447800"/>
            <a:ext cx="7497763" cy="4800600"/>
          </a:xfrm>
        </p:spPr>
        <p:txBody>
          <a:bodyPr/>
          <a:lstStyle/>
          <a:p>
            <a:pPr marL="80963" indent="0" eaLnBrk="1" hangingPunct="1">
              <a:buFont typeface="Wingdings 2" panose="05020102010507070707" pitchFamily="18" charset="2"/>
              <a:buNone/>
            </a:pPr>
            <a:r>
              <a:rPr lang="en-US" altLang="en-US" sz="2000" b="1"/>
              <a:t>Perform substitution to determine the output functions:</a:t>
            </a:r>
          </a:p>
          <a:p>
            <a:pPr lvl="1" eaLnBrk="1" hangingPunct="1"/>
            <a:r>
              <a:rPr lang="en-US" altLang="en-US" sz="2000" b="1"/>
              <a:t>F</a:t>
            </a:r>
            <a:r>
              <a:rPr lang="en-US" altLang="en-US" sz="2000" b="1" baseline="-25000"/>
              <a:t>1</a:t>
            </a:r>
            <a:r>
              <a:rPr lang="en-US" altLang="en-US" sz="2000" b="1"/>
              <a:t>  = T</a:t>
            </a:r>
            <a:r>
              <a:rPr lang="en-US" altLang="en-US" sz="2000" b="1" baseline="-25000"/>
              <a:t>3</a:t>
            </a:r>
            <a:r>
              <a:rPr lang="en-US" altLang="en-US" sz="2000" b="1"/>
              <a:t> + T</a:t>
            </a:r>
            <a:r>
              <a:rPr lang="en-US" altLang="en-US" sz="2000" b="1" baseline="-25000"/>
              <a:t>2</a:t>
            </a:r>
          </a:p>
          <a:p>
            <a:pPr lvl="1" eaLnBrk="1" hangingPunct="1">
              <a:buFont typeface="Wingdings" panose="05000000000000000000" pitchFamily="2" charset="2"/>
              <a:buNone/>
            </a:pPr>
            <a:r>
              <a:rPr lang="en-US" altLang="en-US" sz="2000" b="1"/>
              <a:t>         = F</a:t>
            </a:r>
            <a:r>
              <a:rPr lang="en-US" altLang="en-US" sz="2000" b="1" baseline="-25000"/>
              <a:t>2</a:t>
            </a:r>
            <a:r>
              <a:rPr lang="en-US" altLang="en-US" sz="2000" b="1"/>
              <a:t>’T</a:t>
            </a:r>
            <a:r>
              <a:rPr lang="en-US" altLang="en-US" sz="2000" b="1" baseline="-25000"/>
              <a:t>1</a:t>
            </a:r>
            <a:r>
              <a:rPr lang="en-US" altLang="en-US" sz="2000" b="1"/>
              <a:t> + ABC</a:t>
            </a:r>
          </a:p>
          <a:p>
            <a:pPr lvl="1" eaLnBrk="1" hangingPunct="1">
              <a:buFont typeface="Wingdings" panose="05000000000000000000" pitchFamily="2" charset="2"/>
              <a:buNone/>
            </a:pPr>
            <a:r>
              <a:rPr lang="en-US" altLang="en-US" sz="2000" b="1"/>
              <a:t>         = (AB + AC + BC)’(A + B + C) + ABC</a:t>
            </a:r>
          </a:p>
          <a:p>
            <a:pPr lvl="1" eaLnBrk="1" hangingPunct="1">
              <a:buFont typeface="Wingdings" panose="05000000000000000000" pitchFamily="2" charset="2"/>
              <a:buNone/>
            </a:pPr>
            <a:r>
              <a:rPr lang="en-US" altLang="en-US" sz="2000" b="1"/>
              <a:t>         = (A’ + B’)(A’ + C’)(B’ + C’)(A + B + C) + ABC</a:t>
            </a:r>
          </a:p>
          <a:p>
            <a:pPr lvl="1" eaLnBrk="1" hangingPunct="1">
              <a:buFont typeface="Wingdings" panose="05000000000000000000" pitchFamily="2" charset="2"/>
              <a:buNone/>
            </a:pPr>
            <a:r>
              <a:rPr lang="en-US" altLang="en-US" sz="2000" b="1"/>
              <a:t>         = (A’ + B’C’)(AB’ + AC’ + BC’ + B’C) + ABC</a:t>
            </a:r>
          </a:p>
          <a:p>
            <a:pPr lvl="1" eaLnBrk="1" hangingPunct="1">
              <a:buFont typeface="Wingdings" panose="05000000000000000000" pitchFamily="2" charset="2"/>
              <a:buNone/>
            </a:pPr>
            <a:r>
              <a:rPr lang="en-US" altLang="en-US" sz="2000" b="1"/>
              <a:t>         = A’BC’ + A’B’C + AB’C’ + ABC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E9BA3CA9-1853-EAAA-85C0-C11903ED435D}"/>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 Determining a Truth Table</a:t>
            </a:r>
          </a:p>
        </p:txBody>
      </p:sp>
      <p:sp>
        <p:nvSpPr>
          <p:cNvPr id="19459" name="Rectangle 3">
            <a:extLst>
              <a:ext uri="{FF2B5EF4-FFF2-40B4-BE49-F238E27FC236}">
                <a16:creationId xmlns:a16="http://schemas.microsoft.com/office/drawing/2014/main" id="{EE31DC85-4B00-51A5-0105-91105DE01051}"/>
              </a:ext>
            </a:extLst>
          </p:cNvPr>
          <p:cNvSpPr>
            <a:spLocks noGrp="1" noChangeArrowheads="1"/>
          </p:cNvSpPr>
          <p:nvPr>
            <p:ph type="body" idx="1"/>
          </p:nvPr>
        </p:nvSpPr>
        <p:spPr>
          <a:xfrm>
            <a:off x="990600" y="1371600"/>
            <a:ext cx="7772400" cy="3429000"/>
          </a:xfrm>
        </p:spPr>
        <p:txBody>
          <a:bodyPr/>
          <a:lstStyle/>
          <a:p>
            <a:pPr eaLnBrk="1" hangingPunct="1">
              <a:buClr>
                <a:schemeClr val="tx2"/>
              </a:buClr>
            </a:pPr>
            <a:r>
              <a:rPr lang="en-US" altLang="en-US" sz="2000" b="1"/>
              <a:t>To obtain the truth table directly from a circuit diagram:</a:t>
            </a:r>
          </a:p>
          <a:p>
            <a:pPr lvl="1" eaLnBrk="1" hangingPunct="1"/>
            <a:r>
              <a:rPr lang="en-US" altLang="en-US" sz="2000" b="1"/>
              <a:t>Determine the number of input variables in the circuit.</a:t>
            </a:r>
          </a:p>
          <a:p>
            <a:pPr lvl="1" eaLnBrk="1" hangingPunct="1"/>
            <a:r>
              <a:rPr lang="en-US" altLang="en-US" sz="2000" b="1"/>
              <a:t>Label the outputs of selected gates with arbitrary symbols.</a:t>
            </a:r>
          </a:p>
          <a:p>
            <a:pPr lvl="1" eaLnBrk="1" hangingPunct="1"/>
            <a:r>
              <a:rPr lang="en-US" altLang="en-US" sz="2000" b="1"/>
              <a:t>Obtain the truth table for the outputs of those gates that are a function of the input variables only.</a:t>
            </a:r>
          </a:p>
          <a:p>
            <a:pPr lvl="1" eaLnBrk="1" hangingPunct="1"/>
            <a:r>
              <a:rPr lang="en-US" altLang="en-US" sz="2000" b="1"/>
              <a:t>Proceed to obtain the truth table for the outputs of those gates that are a function of previously defined values until the columns for all outputs are determined.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110B7D59-FF2F-C327-CA6F-E24D3DC6EA71}"/>
              </a:ext>
            </a:extLst>
          </p:cNvPr>
          <p:cNvSpPr>
            <a:spLocks noGrp="1" noChangeArrowheads="1"/>
          </p:cNvSpPr>
          <p:nvPr>
            <p:ph type="title"/>
          </p:nvPr>
        </p:nvSpPr>
        <p:spPr>
          <a:xfrm>
            <a:off x="990600" y="304800"/>
            <a:ext cx="6934200" cy="846138"/>
          </a:xfrm>
        </p:spPr>
        <p:txBody>
          <a:bodyPr/>
          <a:lstStyle/>
          <a:p>
            <a:pPr eaLnBrk="1" fontAlgn="auto" hangingPunct="1">
              <a:spcAft>
                <a:spcPts val="0"/>
              </a:spcAft>
              <a:defRPr/>
            </a:pPr>
            <a:r>
              <a:rPr lang="en-US" dirty="0">
                <a:solidFill>
                  <a:schemeClr val="tx2">
                    <a:satMod val="130000"/>
                  </a:schemeClr>
                </a:solidFill>
              </a:rPr>
              <a:t>Example Truth Table</a:t>
            </a:r>
          </a:p>
        </p:txBody>
      </p:sp>
      <p:grpSp>
        <p:nvGrpSpPr>
          <p:cNvPr id="20483" name="Group 9">
            <a:extLst>
              <a:ext uri="{FF2B5EF4-FFF2-40B4-BE49-F238E27FC236}">
                <a16:creationId xmlns:a16="http://schemas.microsoft.com/office/drawing/2014/main" id="{2C4BAD34-90C8-3DC5-4CE7-F6020E035C08}"/>
              </a:ext>
            </a:extLst>
          </p:cNvPr>
          <p:cNvGrpSpPr>
            <a:grpSpLocks/>
          </p:cNvGrpSpPr>
          <p:nvPr/>
        </p:nvGrpSpPr>
        <p:grpSpPr bwMode="auto">
          <a:xfrm>
            <a:off x="1676400" y="1219200"/>
            <a:ext cx="6172200" cy="3017838"/>
            <a:chOff x="780" y="1179"/>
            <a:chExt cx="4134" cy="2100"/>
          </a:xfrm>
        </p:grpSpPr>
        <p:pic>
          <p:nvPicPr>
            <p:cNvPr id="20485" name="Picture 4" descr="Figure42">
              <a:extLst>
                <a:ext uri="{FF2B5EF4-FFF2-40B4-BE49-F238E27FC236}">
                  <a16:creationId xmlns:a16="http://schemas.microsoft.com/office/drawing/2014/main" id="{7794D4FF-CCF7-B318-070C-2C701391E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 y="1191"/>
              <a:ext cx="4134" cy="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5">
              <a:extLst>
                <a:ext uri="{FF2B5EF4-FFF2-40B4-BE49-F238E27FC236}">
                  <a16:creationId xmlns:a16="http://schemas.microsoft.com/office/drawing/2014/main" id="{83964FE7-51D5-D71B-7162-7D66EDE904E6}"/>
                </a:ext>
              </a:extLst>
            </p:cNvPr>
            <p:cNvSpPr txBox="1">
              <a:spLocks noChangeArrowheads="1"/>
            </p:cNvSpPr>
            <p:nvPr/>
          </p:nvSpPr>
          <p:spPr bwMode="auto">
            <a:xfrm>
              <a:off x="1526" y="1179"/>
              <a:ext cx="30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t>
              </a:r>
              <a:r>
                <a:rPr lang="en-US" altLang="en-US" sz="1700" b="1" baseline="-25000">
                  <a:latin typeface="Times New Roman" panose="02020603050405020304" pitchFamily="18" charset="0"/>
                  <a:cs typeface="Times New Roman" panose="02020603050405020304" pitchFamily="18" charset="0"/>
                </a:rPr>
                <a:t>2</a:t>
              </a:r>
            </a:p>
          </p:txBody>
        </p:sp>
        <p:sp>
          <p:nvSpPr>
            <p:cNvPr id="20487" name="Rectangle 6">
              <a:extLst>
                <a:ext uri="{FF2B5EF4-FFF2-40B4-BE49-F238E27FC236}">
                  <a16:creationId xmlns:a16="http://schemas.microsoft.com/office/drawing/2014/main" id="{886BE40F-D97F-9E63-5E13-5B8DE6A94B9F}"/>
                </a:ext>
              </a:extLst>
            </p:cNvPr>
            <p:cNvSpPr>
              <a:spLocks noChangeArrowheads="1"/>
            </p:cNvSpPr>
            <p:nvPr/>
          </p:nvSpPr>
          <p:spPr bwMode="auto">
            <a:xfrm>
              <a:off x="1542" y="1573"/>
              <a:ext cx="30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t>T</a:t>
              </a:r>
              <a:r>
                <a:rPr lang="en-US" altLang="en-US" sz="1700" b="1" baseline="-25000"/>
                <a:t>1</a:t>
              </a:r>
            </a:p>
          </p:txBody>
        </p:sp>
        <p:sp>
          <p:nvSpPr>
            <p:cNvPr id="20488" name="Rectangle 7">
              <a:extLst>
                <a:ext uri="{FF2B5EF4-FFF2-40B4-BE49-F238E27FC236}">
                  <a16:creationId xmlns:a16="http://schemas.microsoft.com/office/drawing/2014/main" id="{1FB1E18C-4D6D-6AB2-50C4-B36E1EC95750}"/>
                </a:ext>
              </a:extLst>
            </p:cNvPr>
            <p:cNvSpPr>
              <a:spLocks noChangeArrowheads="1"/>
            </p:cNvSpPr>
            <p:nvPr/>
          </p:nvSpPr>
          <p:spPr bwMode="auto">
            <a:xfrm>
              <a:off x="3601" y="1988"/>
              <a:ext cx="30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t>T</a:t>
              </a:r>
              <a:r>
                <a:rPr lang="en-US" altLang="en-US" sz="1700" b="1" baseline="-25000"/>
                <a:t>3</a:t>
              </a:r>
            </a:p>
          </p:txBody>
        </p:sp>
        <p:sp>
          <p:nvSpPr>
            <p:cNvPr id="20489" name="Rectangle 8">
              <a:extLst>
                <a:ext uri="{FF2B5EF4-FFF2-40B4-BE49-F238E27FC236}">
                  <a16:creationId xmlns:a16="http://schemas.microsoft.com/office/drawing/2014/main" id="{FCD0611E-7003-11EE-E9FA-5AD34D63D438}"/>
                </a:ext>
              </a:extLst>
            </p:cNvPr>
            <p:cNvSpPr>
              <a:spLocks noChangeArrowheads="1"/>
            </p:cNvSpPr>
            <p:nvPr/>
          </p:nvSpPr>
          <p:spPr bwMode="auto">
            <a:xfrm>
              <a:off x="2900" y="2156"/>
              <a:ext cx="35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t>F</a:t>
              </a:r>
              <a:r>
                <a:rPr lang="en-US" altLang="en-US" sz="1700" b="1" baseline="-25000"/>
                <a:t>2</a:t>
              </a:r>
              <a:r>
                <a:rPr lang="en-US" altLang="en-US" sz="1600" b="1"/>
                <a:t>’</a:t>
              </a:r>
              <a:endParaRPr lang="en-US" altLang="en-US" sz="1700" b="1" baseline="-25000"/>
            </a:p>
          </p:txBody>
        </p:sp>
      </p:grpSp>
      <p:pic>
        <p:nvPicPr>
          <p:cNvPr id="20484" name="Picture 10" descr="Table41">
            <a:extLst>
              <a:ext uri="{FF2B5EF4-FFF2-40B4-BE49-F238E27FC236}">
                <a16:creationId xmlns:a16="http://schemas.microsoft.com/office/drawing/2014/main" id="{15CA499E-5E0E-C8C7-8594-502A733F7F0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00200" y="4419600"/>
            <a:ext cx="6324600" cy="1724025"/>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674C9015-BF63-84CB-BFD4-791F8EA61AA0}"/>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Design Procedure</a:t>
            </a:r>
          </a:p>
        </p:txBody>
      </p:sp>
      <p:sp>
        <p:nvSpPr>
          <p:cNvPr id="21507" name="Rectangle 3">
            <a:extLst>
              <a:ext uri="{FF2B5EF4-FFF2-40B4-BE49-F238E27FC236}">
                <a16:creationId xmlns:a16="http://schemas.microsoft.com/office/drawing/2014/main" id="{E03538A5-0640-143C-22E6-EE92708C3D49}"/>
              </a:ext>
            </a:extLst>
          </p:cNvPr>
          <p:cNvSpPr>
            <a:spLocks noGrp="1" noChangeArrowheads="1"/>
          </p:cNvSpPr>
          <p:nvPr>
            <p:ph type="body" idx="1"/>
          </p:nvPr>
        </p:nvSpPr>
        <p:spPr>
          <a:xfrm>
            <a:off x="990600" y="1447800"/>
            <a:ext cx="7848600" cy="4800600"/>
          </a:xfrm>
        </p:spPr>
        <p:txBody>
          <a:bodyPr/>
          <a:lstStyle/>
          <a:p>
            <a:pPr eaLnBrk="1" hangingPunct="1">
              <a:lnSpc>
                <a:spcPct val="90000"/>
              </a:lnSpc>
              <a:buClr>
                <a:schemeClr val="tx2"/>
              </a:buClr>
            </a:pPr>
            <a:r>
              <a:rPr lang="en-US" altLang="en-US" sz="2000" b="1"/>
              <a:t>The design of combinational circuits starts from the specification of the problem and results in a logic diagram or a set of Boolean functions.</a:t>
            </a:r>
          </a:p>
          <a:p>
            <a:pPr eaLnBrk="1" hangingPunct="1">
              <a:lnSpc>
                <a:spcPct val="90000"/>
              </a:lnSpc>
              <a:buClr>
                <a:schemeClr val="tx2"/>
              </a:buClr>
            </a:pPr>
            <a:r>
              <a:rPr lang="en-US" altLang="en-US" sz="2000" b="1"/>
              <a:t>The steps to be followed are:</a:t>
            </a:r>
          </a:p>
          <a:p>
            <a:pPr lvl="1" eaLnBrk="1" hangingPunct="1">
              <a:lnSpc>
                <a:spcPct val="90000"/>
              </a:lnSpc>
            </a:pPr>
            <a:r>
              <a:rPr lang="en-US" altLang="en-US" sz="2000" b="1"/>
              <a:t>From the specification, determine the required number of inputs and outputs and assign a symbol to each.</a:t>
            </a:r>
          </a:p>
          <a:p>
            <a:pPr lvl="1" eaLnBrk="1" hangingPunct="1">
              <a:lnSpc>
                <a:spcPct val="90000"/>
              </a:lnSpc>
            </a:pPr>
            <a:r>
              <a:rPr lang="en-US" altLang="en-US" sz="2000" b="1"/>
              <a:t>Derive the truth table that defines the required relationship between inputs and outputs.</a:t>
            </a:r>
          </a:p>
          <a:p>
            <a:pPr lvl="1" eaLnBrk="1" hangingPunct="1">
              <a:lnSpc>
                <a:spcPct val="90000"/>
              </a:lnSpc>
            </a:pPr>
            <a:r>
              <a:rPr lang="en-US" altLang="en-US" sz="2000" b="1"/>
              <a:t>Obtain the simplified Boolean functions for each output as a function of the input variables.</a:t>
            </a:r>
          </a:p>
          <a:p>
            <a:pPr lvl="1" eaLnBrk="1" hangingPunct="1">
              <a:lnSpc>
                <a:spcPct val="90000"/>
              </a:lnSpc>
            </a:pPr>
            <a:r>
              <a:rPr lang="en-US" altLang="en-US" sz="2000" b="1"/>
              <a:t>Draw the logic diagram and verify the correctness of the 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F9C44080-7F59-8C31-E2BB-6743A20038E9}"/>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a:solidFill>
                  <a:schemeClr val="tx2">
                    <a:satMod val="130000"/>
                  </a:schemeClr>
                </a:solidFill>
              </a:rPr>
              <a:t>Simplification</a:t>
            </a:r>
          </a:p>
        </p:txBody>
      </p:sp>
      <p:sp>
        <p:nvSpPr>
          <p:cNvPr id="26628" name="Rectangle 3">
            <a:extLst>
              <a:ext uri="{FF2B5EF4-FFF2-40B4-BE49-F238E27FC236}">
                <a16:creationId xmlns:a16="http://schemas.microsoft.com/office/drawing/2014/main" id="{2F4C8D77-0ED7-21E1-A49F-7B0F38AC2F53}"/>
              </a:ext>
            </a:extLst>
          </p:cNvPr>
          <p:cNvSpPr>
            <a:spLocks noGrp="1" noChangeArrowheads="1"/>
          </p:cNvSpPr>
          <p:nvPr>
            <p:ph type="body" idx="1"/>
          </p:nvPr>
        </p:nvSpPr>
        <p:spPr>
          <a:xfrm>
            <a:off x="990600" y="1371600"/>
            <a:ext cx="7772400" cy="4648200"/>
          </a:xfrm>
        </p:spPr>
        <p:txBody>
          <a:bodyPr>
            <a:normAutofit/>
          </a:bodyPr>
          <a:lstStyle/>
          <a:p>
            <a:pPr marL="365760" indent="-283464" eaLnBrk="1" fontAlgn="auto" hangingPunct="1">
              <a:lnSpc>
                <a:spcPct val="90000"/>
              </a:lnSpc>
              <a:spcAft>
                <a:spcPts val="0"/>
              </a:spcAft>
              <a:buClr>
                <a:schemeClr val="tx2"/>
              </a:buClr>
              <a:buFont typeface="Wingdings 2"/>
              <a:buChar char=""/>
              <a:defRPr/>
            </a:pPr>
            <a:r>
              <a:rPr lang="en-US" sz="2000" b="1" dirty="0"/>
              <a:t>Simplification of the output functions can be done in any of a number of ways:</a:t>
            </a:r>
          </a:p>
          <a:p>
            <a:pPr marL="640080" lvl="1" indent="-237744" eaLnBrk="1" fontAlgn="auto" hangingPunct="1">
              <a:lnSpc>
                <a:spcPct val="90000"/>
              </a:lnSpc>
              <a:spcAft>
                <a:spcPts val="0"/>
              </a:spcAft>
              <a:buFont typeface="Verdana"/>
              <a:buChar char="◦"/>
              <a:defRPr/>
            </a:pPr>
            <a:r>
              <a:rPr lang="en-US" sz="2000" b="1" dirty="0"/>
              <a:t>algebraic manipulation.</a:t>
            </a:r>
          </a:p>
          <a:p>
            <a:pPr marL="640080" lvl="1" indent="-237744" eaLnBrk="1" fontAlgn="auto" hangingPunct="1">
              <a:lnSpc>
                <a:spcPct val="90000"/>
              </a:lnSpc>
              <a:spcAft>
                <a:spcPts val="0"/>
              </a:spcAft>
              <a:buFont typeface="Verdana"/>
              <a:buChar char="◦"/>
              <a:defRPr/>
            </a:pPr>
            <a:r>
              <a:rPr lang="en-US" sz="2000" b="1" dirty="0"/>
              <a:t>map method.</a:t>
            </a:r>
          </a:p>
          <a:p>
            <a:pPr marL="640080" lvl="1" indent="-237744" eaLnBrk="1" fontAlgn="auto" hangingPunct="1">
              <a:lnSpc>
                <a:spcPct val="90000"/>
              </a:lnSpc>
              <a:spcAft>
                <a:spcPts val="0"/>
              </a:spcAft>
              <a:buFont typeface="Verdana"/>
              <a:buChar char="◦"/>
              <a:defRPr/>
            </a:pPr>
            <a:r>
              <a:rPr lang="en-US" sz="2000" b="1" dirty="0"/>
              <a:t>computer-based simplification.</a:t>
            </a:r>
          </a:p>
          <a:p>
            <a:pPr marL="402336" lvl="1" indent="0" eaLnBrk="1" fontAlgn="auto" hangingPunct="1">
              <a:lnSpc>
                <a:spcPct val="90000"/>
              </a:lnSpc>
              <a:spcAft>
                <a:spcPts val="0"/>
              </a:spcAft>
              <a:buFont typeface="Verdana"/>
              <a:buNone/>
              <a:defRPr/>
            </a:pPr>
            <a:endParaRPr lang="en-US" sz="2000" b="1" dirty="0"/>
          </a:p>
          <a:p>
            <a:pPr marL="365760" indent="-283464" eaLnBrk="1" fontAlgn="auto" hangingPunct="1">
              <a:lnSpc>
                <a:spcPct val="90000"/>
              </a:lnSpc>
              <a:spcAft>
                <a:spcPts val="0"/>
              </a:spcAft>
              <a:buClr>
                <a:schemeClr val="tx2"/>
              </a:buClr>
              <a:buFont typeface="Wingdings 2"/>
              <a:buChar char=""/>
              <a:defRPr/>
            </a:pPr>
            <a:r>
              <a:rPr lang="en-US" sz="2000" b="1" dirty="0"/>
              <a:t>You need to consider the following in your simplification:</a:t>
            </a:r>
          </a:p>
          <a:p>
            <a:pPr marL="640080" lvl="1" indent="-237744" eaLnBrk="1" fontAlgn="auto" hangingPunct="1">
              <a:lnSpc>
                <a:spcPct val="90000"/>
              </a:lnSpc>
              <a:spcAft>
                <a:spcPts val="0"/>
              </a:spcAft>
              <a:buFont typeface="Verdana"/>
              <a:buChar char="◦"/>
              <a:defRPr/>
            </a:pPr>
            <a:r>
              <a:rPr lang="en-US" sz="2000" b="1" dirty="0"/>
              <a:t>number of gates.</a:t>
            </a:r>
          </a:p>
          <a:p>
            <a:pPr marL="640080" lvl="1" indent="-237744" eaLnBrk="1" fontAlgn="auto" hangingPunct="1">
              <a:lnSpc>
                <a:spcPct val="90000"/>
              </a:lnSpc>
              <a:spcAft>
                <a:spcPts val="0"/>
              </a:spcAft>
              <a:buFont typeface="Verdana"/>
              <a:buChar char="◦"/>
              <a:defRPr/>
            </a:pPr>
            <a:r>
              <a:rPr lang="en-US" sz="2000" b="1" dirty="0"/>
              <a:t>number of inputs to a gate.</a:t>
            </a:r>
          </a:p>
          <a:p>
            <a:pPr marL="640080" lvl="1" indent="-237744" eaLnBrk="1" fontAlgn="auto" hangingPunct="1">
              <a:lnSpc>
                <a:spcPct val="90000"/>
              </a:lnSpc>
              <a:spcAft>
                <a:spcPts val="0"/>
              </a:spcAft>
              <a:buFont typeface="Verdana"/>
              <a:buChar char="◦"/>
              <a:defRPr/>
            </a:pPr>
            <a:r>
              <a:rPr lang="en-US" sz="2000" b="1" dirty="0"/>
              <a:t>propagation of time through the gates.</a:t>
            </a:r>
          </a:p>
          <a:p>
            <a:pPr marL="640080" lvl="1" indent="-237744" eaLnBrk="1" fontAlgn="auto" hangingPunct="1">
              <a:lnSpc>
                <a:spcPct val="90000"/>
              </a:lnSpc>
              <a:spcAft>
                <a:spcPts val="0"/>
              </a:spcAft>
              <a:buFont typeface="Verdana"/>
              <a:buChar char="◦"/>
              <a:defRPr/>
            </a:pPr>
            <a:r>
              <a:rPr lang="en-US" sz="2000" b="1" dirty="0"/>
              <a:t>number of interconnections.</a:t>
            </a:r>
          </a:p>
          <a:p>
            <a:pPr marL="640080" lvl="1" indent="-237744" eaLnBrk="1" fontAlgn="auto" hangingPunct="1">
              <a:lnSpc>
                <a:spcPct val="90000"/>
              </a:lnSpc>
              <a:spcAft>
                <a:spcPts val="0"/>
              </a:spcAft>
              <a:buFont typeface="Verdana"/>
              <a:buChar char="◦"/>
              <a:defRPr/>
            </a:pPr>
            <a:r>
              <a:rPr lang="en-US" sz="2000" b="1" dirty="0"/>
              <a:t>various others.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F5FC-729C-AB18-6850-4A4056766800}"/>
              </a:ext>
            </a:extLst>
          </p:cNvPr>
          <p:cNvSpPr>
            <a:spLocks noGrp="1"/>
          </p:cNvSpPr>
          <p:nvPr>
            <p:ph type="title"/>
          </p:nvPr>
        </p:nvSpPr>
        <p:spPr/>
        <p:txBody>
          <a:bodyPr/>
          <a:lstStyle/>
          <a:p>
            <a:pPr eaLnBrk="1" hangingPunct="1">
              <a:defRPr/>
            </a:pPr>
            <a:r>
              <a:rPr lang="en-US" dirty="0"/>
              <a:t>Design Examples</a:t>
            </a:r>
          </a:p>
        </p:txBody>
      </p:sp>
      <p:sp>
        <p:nvSpPr>
          <p:cNvPr id="23555" name="Content Placeholder 2">
            <a:extLst>
              <a:ext uri="{FF2B5EF4-FFF2-40B4-BE49-F238E27FC236}">
                <a16:creationId xmlns:a16="http://schemas.microsoft.com/office/drawing/2014/main" id="{36CFAFD8-2F3E-CBAF-8DE2-2C3A14E10C2C}"/>
              </a:ext>
            </a:extLst>
          </p:cNvPr>
          <p:cNvSpPr>
            <a:spLocks noGrp="1"/>
          </p:cNvSpPr>
          <p:nvPr>
            <p:ph idx="1"/>
          </p:nvPr>
        </p:nvSpPr>
        <p:spPr/>
        <p:txBody>
          <a:bodyPr/>
          <a:lstStyle/>
          <a:p>
            <a:pPr eaLnBrk="1" hangingPunct="1"/>
            <a:r>
              <a:rPr lang="en-US" altLang="en-US"/>
              <a:t>Design a combinational circuit to check if an input is greater than or equal to 5?</a:t>
            </a:r>
          </a:p>
          <a:p>
            <a:pPr lvl="1" eaLnBrk="1" hangingPunct="1"/>
            <a:r>
              <a:rPr lang="en-US" altLang="en-US"/>
              <a:t>The circuit that has a 3-bit binary input and a single output (Z) specified as follows:</a:t>
            </a:r>
          </a:p>
          <a:p>
            <a:pPr lvl="2" eaLnBrk="1" hangingPunct="1"/>
            <a:r>
              <a:rPr lang="en-US" altLang="en-US"/>
              <a:t>Z = 0, when the input is less than 5</a:t>
            </a:r>
            <a:r>
              <a:rPr lang="en-US" altLang="en-US" baseline="-25000"/>
              <a:t>10</a:t>
            </a:r>
            <a:endParaRPr lang="en-US" altLang="en-US"/>
          </a:p>
          <a:p>
            <a:pPr lvl="2" eaLnBrk="1" hangingPunct="1"/>
            <a:r>
              <a:rPr lang="en-US" altLang="en-US"/>
              <a:t>Z = 1, otherwise</a:t>
            </a:r>
          </a:p>
          <a:p>
            <a:pPr lvl="1" eaLnBrk="1" hangingPunct="1"/>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F16EBC49-A7A6-9387-53AF-BB1C4C80AB5E}"/>
              </a:ext>
            </a:extLst>
          </p:cNvPr>
          <p:cNvSpPr>
            <a:spLocks noGrp="1"/>
          </p:cNvSpPr>
          <p:nvPr>
            <p:ph idx="1"/>
          </p:nvPr>
        </p:nvSpPr>
        <p:spPr/>
        <p:txBody>
          <a:bodyPr/>
          <a:lstStyle/>
          <a:p>
            <a:pPr eaLnBrk="1" hangingPunct="1"/>
            <a:r>
              <a:rPr lang="en-US" altLang="en-US" b="1"/>
              <a:t>Determine the inputs and Outputs</a:t>
            </a:r>
          </a:p>
          <a:p>
            <a:pPr lvl="1" eaLnBrk="1" hangingPunct="1"/>
            <a:r>
              <a:rPr lang="en-US" altLang="en-US"/>
              <a:t>Label the inputs (3 bits) as A, B, C</a:t>
            </a:r>
          </a:p>
          <a:p>
            <a:pPr lvl="2" eaLnBrk="1" hangingPunct="1"/>
            <a:r>
              <a:rPr lang="en-US" altLang="en-US"/>
              <a:t>A is the most significant bit</a:t>
            </a:r>
          </a:p>
          <a:p>
            <a:pPr lvl="2" eaLnBrk="1" hangingPunct="1"/>
            <a:r>
              <a:rPr lang="en-US" altLang="en-US"/>
              <a:t>C is the least significant bit</a:t>
            </a:r>
          </a:p>
          <a:p>
            <a:pPr lvl="1" eaLnBrk="1" hangingPunct="1"/>
            <a:r>
              <a:rPr lang="en-US" altLang="en-US"/>
              <a:t>The output (1 bit) is Z</a:t>
            </a:r>
          </a:p>
          <a:p>
            <a:pPr lvl="2" eaLnBrk="1" hangingPunct="1"/>
            <a:r>
              <a:rPr lang="en-US" altLang="en-US"/>
              <a:t>Z = 1 </a:t>
            </a:r>
            <a:r>
              <a:rPr lang="en-US" altLang="en-US">
                <a:sym typeface="Wingdings" panose="05000000000000000000" pitchFamily="2" charset="2"/>
              </a:rPr>
              <a:t> </a:t>
            </a:r>
            <a:r>
              <a:rPr lang="en-US" altLang="en-US"/>
              <a:t>101</a:t>
            </a:r>
            <a:r>
              <a:rPr lang="en-US" altLang="en-US" baseline="-25000"/>
              <a:t>2</a:t>
            </a:r>
            <a:r>
              <a:rPr lang="en-US" altLang="en-US"/>
              <a:t>, 110</a:t>
            </a:r>
            <a:r>
              <a:rPr lang="en-US" altLang="en-US" baseline="-25000"/>
              <a:t>2</a:t>
            </a:r>
            <a:r>
              <a:rPr lang="en-US" altLang="en-US"/>
              <a:t>, 111</a:t>
            </a:r>
            <a:r>
              <a:rPr lang="en-US" altLang="en-US" baseline="-25000"/>
              <a:t>2</a:t>
            </a:r>
            <a:endParaRPr lang="en-US" altLang="en-US"/>
          </a:p>
          <a:p>
            <a:pPr lvl="2" eaLnBrk="1" hangingPunct="1"/>
            <a:r>
              <a:rPr lang="en-US" altLang="en-US"/>
              <a:t>Z = 0 </a:t>
            </a:r>
            <a:r>
              <a:rPr lang="en-US" altLang="en-US">
                <a:sym typeface="Wingdings" panose="05000000000000000000" pitchFamily="2" charset="2"/>
              </a:rPr>
              <a:t></a:t>
            </a:r>
            <a:r>
              <a:rPr lang="en-US" altLang="en-US"/>
              <a:t> other inputs</a:t>
            </a:r>
          </a:p>
          <a:p>
            <a:pPr eaLnBrk="1" hangingPunct="1"/>
            <a:br>
              <a:rPr lang="en-US" altLang="en-US"/>
            </a:br>
            <a:endParaRPr lang="en-US" altLang="en-US"/>
          </a:p>
        </p:txBody>
      </p:sp>
      <p:sp>
        <p:nvSpPr>
          <p:cNvPr id="5" name="Title 1">
            <a:extLst>
              <a:ext uri="{FF2B5EF4-FFF2-40B4-BE49-F238E27FC236}">
                <a16:creationId xmlns:a16="http://schemas.microsoft.com/office/drawing/2014/main" id="{E2D0CCAB-C8A4-1A99-5195-9B50D14B2977}"/>
              </a:ext>
            </a:extLst>
          </p:cNvPr>
          <p:cNvSpPr>
            <a:spLocks noGrp="1"/>
          </p:cNvSpPr>
          <p:nvPr>
            <p:ph type="title"/>
          </p:nvPr>
        </p:nvSpPr>
        <p:spPr/>
        <p:txBody>
          <a:bodyPr/>
          <a:lstStyle/>
          <a:p>
            <a:pPr eaLnBrk="1" hangingPunct="1">
              <a:defRPr/>
            </a:pPr>
            <a:r>
              <a:rPr lang="en-US" dirty="0"/>
              <a:t>Design Examples(Cont.)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260723-6586-0491-2E00-49E9A3264BDA}"/>
              </a:ext>
            </a:extLst>
          </p:cNvPr>
          <p:cNvSpPr>
            <a:spLocks noGrp="1"/>
          </p:cNvSpPr>
          <p:nvPr>
            <p:ph idx="1"/>
          </p:nvPr>
        </p:nvSpPr>
        <p:spPr>
          <a:xfrm>
            <a:off x="1401763" y="1417638"/>
            <a:ext cx="7499350" cy="4800600"/>
          </a:xfrm>
        </p:spPr>
        <p:txBody>
          <a:bodyPr/>
          <a:lstStyle/>
          <a:p>
            <a:pPr eaLnBrk="1" hangingPunct="1">
              <a:defRPr/>
            </a:pPr>
            <a:r>
              <a:rPr lang="en-US" b="1" dirty="0"/>
              <a:t>Derive the Truth Table</a:t>
            </a:r>
          </a:p>
          <a:p>
            <a:pPr marL="82550" indent="0" eaLnBrk="1" hangingPunct="1">
              <a:buFont typeface="Wingdings 2" panose="05020102010507070707" pitchFamily="18" charset="2"/>
              <a:buNone/>
              <a:defRPr/>
            </a:pPr>
            <a:endParaRPr lang="en-US" dirty="0"/>
          </a:p>
        </p:txBody>
      </p:sp>
      <p:graphicFrame>
        <p:nvGraphicFramePr>
          <p:cNvPr id="8" name="Table 7">
            <a:extLst>
              <a:ext uri="{FF2B5EF4-FFF2-40B4-BE49-F238E27FC236}">
                <a16:creationId xmlns:a16="http://schemas.microsoft.com/office/drawing/2014/main" id="{2BA098AB-9A72-AEB1-43AD-FF1EC1F88AAB}"/>
              </a:ext>
            </a:extLst>
          </p:cNvPr>
          <p:cNvGraphicFramePr>
            <a:graphicFrameLocks noGrp="1"/>
          </p:cNvGraphicFramePr>
          <p:nvPr/>
        </p:nvGraphicFramePr>
        <p:xfrm>
          <a:off x="2438400" y="2133600"/>
          <a:ext cx="4737100" cy="3840163"/>
        </p:xfrm>
        <a:graphic>
          <a:graphicData uri="http://schemas.openxmlformats.org/drawingml/2006/table">
            <a:tbl>
              <a:tblPr/>
              <a:tblGrid>
                <a:gridCol w="1184275">
                  <a:extLst>
                    <a:ext uri="{9D8B030D-6E8A-4147-A177-3AD203B41FA5}">
                      <a16:colId xmlns:a16="http://schemas.microsoft.com/office/drawing/2014/main" val="20000"/>
                    </a:ext>
                  </a:extLst>
                </a:gridCol>
                <a:gridCol w="1184275">
                  <a:extLst>
                    <a:ext uri="{9D8B030D-6E8A-4147-A177-3AD203B41FA5}">
                      <a16:colId xmlns:a16="http://schemas.microsoft.com/office/drawing/2014/main" val="20001"/>
                    </a:ext>
                  </a:extLst>
                </a:gridCol>
                <a:gridCol w="1184275">
                  <a:extLst>
                    <a:ext uri="{9D8B030D-6E8A-4147-A177-3AD203B41FA5}">
                      <a16:colId xmlns:a16="http://schemas.microsoft.com/office/drawing/2014/main" val="20002"/>
                    </a:ext>
                  </a:extLst>
                </a:gridCol>
                <a:gridCol w="1184275">
                  <a:extLst>
                    <a:ext uri="{9D8B030D-6E8A-4147-A177-3AD203B41FA5}">
                      <a16:colId xmlns:a16="http://schemas.microsoft.com/office/drawing/2014/main" val="20003"/>
                    </a:ext>
                  </a:extLst>
                </a:gridCol>
              </a:tblGrid>
              <a:tr h="426685">
                <a:tc>
                  <a:txBody>
                    <a:bodyPr/>
                    <a:lstStyle/>
                    <a:p>
                      <a:pPr algn="l" fontAlgn="t"/>
                      <a:r>
                        <a:rPr lang="en-US" sz="1800" dirty="0">
                          <a:effectLst/>
                        </a:rPr>
                        <a:t>A</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fontAlgn="t"/>
                      <a:r>
                        <a:rPr lang="en-US" sz="1800" dirty="0">
                          <a:effectLst/>
                        </a:rPr>
                        <a:t>B</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fontAlgn="t"/>
                      <a:r>
                        <a:rPr lang="en-US" sz="1800" dirty="0">
                          <a:effectLst/>
                        </a:rPr>
                        <a:t>C</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fontAlgn="t"/>
                      <a:r>
                        <a:rPr lang="en-US" sz="1800" dirty="0">
                          <a:effectLst/>
                        </a:rPr>
                        <a:t>Z</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426685">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6685">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6685">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6685">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6685">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6685">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6685">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0</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6685">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1800" dirty="0">
                          <a:effectLst/>
                        </a:rPr>
                        <a:t>1</a:t>
                      </a:r>
                    </a:p>
                  </a:txBody>
                  <a:tcPr marL="76200" marR="76200" marT="76194" marB="761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 name="Title 1">
            <a:extLst>
              <a:ext uri="{FF2B5EF4-FFF2-40B4-BE49-F238E27FC236}">
                <a16:creationId xmlns:a16="http://schemas.microsoft.com/office/drawing/2014/main" id="{E4ED9192-1FB6-30BC-298D-D4AF6A1BBCFF}"/>
              </a:ext>
            </a:extLst>
          </p:cNvPr>
          <p:cNvSpPr>
            <a:spLocks noGrp="1"/>
          </p:cNvSpPr>
          <p:nvPr>
            <p:ph type="title"/>
          </p:nvPr>
        </p:nvSpPr>
        <p:spPr/>
        <p:txBody>
          <a:bodyPr/>
          <a:lstStyle/>
          <a:p>
            <a:pPr eaLnBrk="1" hangingPunct="1">
              <a:defRPr/>
            </a:pPr>
            <a:r>
              <a:rPr lang="en-US" dirty="0"/>
              <a:t>Design Examples(Cont.)</a:t>
            </a:r>
          </a:p>
        </p:txBody>
      </p:sp>
      <p:sp>
        <p:nvSpPr>
          <p:cNvPr id="10" name="Oval 9">
            <a:extLst>
              <a:ext uri="{FF2B5EF4-FFF2-40B4-BE49-F238E27FC236}">
                <a16:creationId xmlns:a16="http://schemas.microsoft.com/office/drawing/2014/main" id="{74841AAC-64D6-C727-C8DC-14A8220FAF51}"/>
              </a:ext>
            </a:extLst>
          </p:cNvPr>
          <p:cNvSpPr/>
          <p:nvPr/>
        </p:nvSpPr>
        <p:spPr>
          <a:xfrm>
            <a:off x="5943600" y="4724400"/>
            <a:ext cx="457200" cy="1295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TextBox 10">
            <a:extLst>
              <a:ext uri="{FF2B5EF4-FFF2-40B4-BE49-F238E27FC236}">
                <a16:creationId xmlns:a16="http://schemas.microsoft.com/office/drawing/2014/main" id="{36017981-401F-EC70-0418-2788DC616C02}"/>
              </a:ext>
            </a:extLst>
          </p:cNvPr>
          <p:cNvSpPr txBox="1">
            <a:spLocks noChangeArrowheads="1"/>
          </p:cNvSpPr>
          <p:nvPr/>
        </p:nvSpPr>
        <p:spPr bwMode="auto">
          <a:xfrm>
            <a:off x="7391400" y="4495800"/>
            <a:ext cx="15430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∑(5,6,7)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03C62308-EA6F-220A-C34C-F9E4E03F9F21}"/>
              </a:ext>
            </a:extLst>
          </p:cNvPr>
          <p:cNvSpPr>
            <a:spLocks noGrp="1"/>
          </p:cNvSpPr>
          <p:nvPr>
            <p:ph idx="1"/>
          </p:nvPr>
        </p:nvSpPr>
        <p:spPr/>
        <p:txBody>
          <a:bodyPr/>
          <a:lstStyle/>
          <a:p>
            <a:pPr eaLnBrk="1" hangingPunct="1"/>
            <a:r>
              <a:rPr lang="en-US" altLang="en-US" b="1"/>
              <a:t>Simplify the Boolean Expression (using </a:t>
            </a:r>
            <a:r>
              <a:rPr lang="en-US" altLang="en-US" b="1">
                <a:hlinkClick r:id="rId2" action="ppaction://hlinksldjump"/>
              </a:rPr>
              <a:t>k-map</a:t>
            </a:r>
            <a:r>
              <a:rPr lang="en-US" altLang="en-US" b="1"/>
              <a:t>)</a:t>
            </a:r>
          </a:p>
          <a:p>
            <a:pPr eaLnBrk="1" hangingPunct="1"/>
            <a:endParaRPr lang="en-US" altLang="en-US"/>
          </a:p>
        </p:txBody>
      </p:sp>
      <p:sp>
        <p:nvSpPr>
          <p:cNvPr id="4" name="Title 1">
            <a:extLst>
              <a:ext uri="{FF2B5EF4-FFF2-40B4-BE49-F238E27FC236}">
                <a16:creationId xmlns:a16="http://schemas.microsoft.com/office/drawing/2014/main" id="{3EECB67A-4693-F600-0649-192F3A2A0ED4}"/>
              </a:ext>
            </a:extLst>
          </p:cNvPr>
          <p:cNvSpPr>
            <a:spLocks noGrp="1"/>
          </p:cNvSpPr>
          <p:nvPr>
            <p:ph type="title"/>
          </p:nvPr>
        </p:nvSpPr>
        <p:spPr/>
        <p:txBody>
          <a:bodyPr/>
          <a:lstStyle/>
          <a:p>
            <a:pPr eaLnBrk="1" hangingPunct="1">
              <a:defRPr/>
            </a:pPr>
            <a:r>
              <a:rPr lang="en-US" dirty="0"/>
              <a:t>Design Examples(Cont.)</a:t>
            </a:r>
          </a:p>
        </p:txBody>
      </p:sp>
      <p:graphicFrame>
        <p:nvGraphicFramePr>
          <p:cNvPr id="7" name="Table 6">
            <a:extLst>
              <a:ext uri="{FF2B5EF4-FFF2-40B4-BE49-F238E27FC236}">
                <a16:creationId xmlns:a16="http://schemas.microsoft.com/office/drawing/2014/main" id="{8847DEEB-7E93-9A00-4F47-E151C0A7951F}"/>
              </a:ext>
            </a:extLst>
          </p:cNvPr>
          <p:cNvGraphicFramePr>
            <a:graphicFrameLocks noGrp="1"/>
          </p:cNvGraphicFramePr>
          <p:nvPr/>
        </p:nvGraphicFramePr>
        <p:xfrm>
          <a:off x="1752600" y="3124200"/>
          <a:ext cx="3657600" cy="129540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64770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77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6645" name="TextBox 7">
            <a:extLst>
              <a:ext uri="{FF2B5EF4-FFF2-40B4-BE49-F238E27FC236}">
                <a16:creationId xmlns:a16="http://schemas.microsoft.com/office/drawing/2014/main" id="{82D2CB04-9175-C7E6-C1E9-418C2684C8AD}"/>
              </a:ext>
            </a:extLst>
          </p:cNvPr>
          <p:cNvSpPr txBox="1">
            <a:spLocks noChangeArrowheads="1"/>
          </p:cNvSpPr>
          <p:nvPr/>
        </p:nvSpPr>
        <p:spPr bwMode="auto">
          <a:xfrm>
            <a:off x="1244600" y="38862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a:t>
            </a:r>
          </a:p>
        </p:txBody>
      </p:sp>
      <p:sp>
        <p:nvSpPr>
          <p:cNvPr id="26646" name="TextBox 8">
            <a:extLst>
              <a:ext uri="{FF2B5EF4-FFF2-40B4-BE49-F238E27FC236}">
                <a16:creationId xmlns:a16="http://schemas.microsoft.com/office/drawing/2014/main" id="{E67BB270-AC7A-60ED-E293-4FC5D781FF8E}"/>
              </a:ext>
            </a:extLst>
          </p:cNvPr>
          <p:cNvSpPr txBox="1">
            <a:spLocks noChangeArrowheads="1"/>
          </p:cNvSpPr>
          <p:nvPr/>
        </p:nvSpPr>
        <p:spPr bwMode="auto">
          <a:xfrm>
            <a:off x="3429000" y="44958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C</a:t>
            </a:r>
          </a:p>
        </p:txBody>
      </p:sp>
      <p:sp>
        <p:nvSpPr>
          <p:cNvPr id="26647" name="TextBox 9">
            <a:extLst>
              <a:ext uri="{FF2B5EF4-FFF2-40B4-BE49-F238E27FC236}">
                <a16:creationId xmlns:a16="http://schemas.microsoft.com/office/drawing/2014/main" id="{6EEF361A-FA3C-9EC2-FF72-4FD185259854}"/>
              </a:ext>
            </a:extLst>
          </p:cNvPr>
          <p:cNvSpPr txBox="1">
            <a:spLocks noChangeArrowheads="1"/>
          </p:cNvSpPr>
          <p:nvPr/>
        </p:nvSpPr>
        <p:spPr bwMode="auto">
          <a:xfrm>
            <a:off x="4267200" y="266065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B</a:t>
            </a:r>
          </a:p>
        </p:txBody>
      </p:sp>
      <p:cxnSp>
        <p:nvCxnSpPr>
          <p:cNvPr id="11" name="Straight Connector 10">
            <a:extLst>
              <a:ext uri="{FF2B5EF4-FFF2-40B4-BE49-F238E27FC236}">
                <a16:creationId xmlns:a16="http://schemas.microsoft.com/office/drawing/2014/main" id="{447F864E-5097-D362-81BE-3E8C868360CE}"/>
              </a:ext>
            </a:extLst>
          </p:cNvPr>
          <p:cNvCxnSpPr/>
          <p:nvPr/>
        </p:nvCxnSpPr>
        <p:spPr>
          <a:xfrm>
            <a:off x="3924300" y="3048000"/>
            <a:ext cx="1143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1EA5101-896D-35B0-A616-625272BBF661}"/>
              </a:ext>
            </a:extLst>
          </p:cNvPr>
          <p:cNvCxnSpPr/>
          <p:nvPr/>
        </p:nvCxnSpPr>
        <p:spPr>
          <a:xfrm>
            <a:off x="2897188" y="4495800"/>
            <a:ext cx="1143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6650" name="TextBox 13">
            <a:extLst>
              <a:ext uri="{FF2B5EF4-FFF2-40B4-BE49-F238E27FC236}">
                <a16:creationId xmlns:a16="http://schemas.microsoft.com/office/drawing/2014/main" id="{E7BAC95B-6245-C690-62B7-4969C69CB6FD}"/>
              </a:ext>
            </a:extLst>
          </p:cNvPr>
          <p:cNvSpPr txBox="1">
            <a:spLocks noChangeArrowheads="1"/>
          </p:cNvSpPr>
          <p:nvPr/>
        </p:nvSpPr>
        <p:spPr bwMode="auto">
          <a:xfrm>
            <a:off x="5715000" y="2443163"/>
            <a:ext cx="15430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F= ∑(5,6,7)</a:t>
            </a:r>
          </a:p>
        </p:txBody>
      </p:sp>
      <p:sp>
        <p:nvSpPr>
          <p:cNvPr id="15" name="Rectangle 14">
            <a:extLst>
              <a:ext uri="{FF2B5EF4-FFF2-40B4-BE49-F238E27FC236}">
                <a16:creationId xmlns:a16="http://schemas.microsoft.com/office/drawing/2014/main" id="{3E1F99BA-7EA7-A77B-F4F0-90A86ACB84C1}"/>
              </a:ext>
            </a:extLst>
          </p:cNvPr>
          <p:cNvSpPr/>
          <p:nvPr/>
        </p:nvSpPr>
        <p:spPr>
          <a:xfrm>
            <a:off x="3048000" y="3810000"/>
            <a:ext cx="1219200" cy="3698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t>c</a:t>
            </a:r>
          </a:p>
        </p:txBody>
      </p:sp>
      <p:sp>
        <p:nvSpPr>
          <p:cNvPr id="16" name="Rectangle 15">
            <a:extLst>
              <a:ext uri="{FF2B5EF4-FFF2-40B4-BE49-F238E27FC236}">
                <a16:creationId xmlns:a16="http://schemas.microsoft.com/office/drawing/2014/main" id="{9FB5FCE8-B5B7-BDD9-E50F-55C7F2A31210}"/>
              </a:ext>
            </a:extLst>
          </p:cNvPr>
          <p:cNvSpPr/>
          <p:nvPr/>
        </p:nvSpPr>
        <p:spPr>
          <a:xfrm>
            <a:off x="3886200" y="3810000"/>
            <a:ext cx="1219200" cy="369888"/>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t>c</a:t>
            </a:r>
          </a:p>
        </p:txBody>
      </p:sp>
      <p:sp>
        <p:nvSpPr>
          <p:cNvPr id="17" name="TextBox 16">
            <a:extLst>
              <a:ext uri="{FF2B5EF4-FFF2-40B4-BE49-F238E27FC236}">
                <a16:creationId xmlns:a16="http://schemas.microsoft.com/office/drawing/2014/main" id="{3CE6A7EF-9AEB-40DB-4FFB-C72E52725797}"/>
              </a:ext>
            </a:extLst>
          </p:cNvPr>
          <p:cNvSpPr txBox="1">
            <a:spLocks noChangeArrowheads="1"/>
          </p:cNvSpPr>
          <p:nvPr/>
        </p:nvSpPr>
        <p:spPr bwMode="auto">
          <a:xfrm>
            <a:off x="2657475" y="5181600"/>
            <a:ext cx="15430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AC</a:t>
            </a:r>
          </a:p>
        </p:txBody>
      </p:sp>
      <p:sp>
        <p:nvSpPr>
          <p:cNvPr id="18" name="TextBox 17">
            <a:extLst>
              <a:ext uri="{FF2B5EF4-FFF2-40B4-BE49-F238E27FC236}">
                <a16:creationId xmlns:a16="http://schemas.microsoft.com/office/drawing/2014/main" id="{B622DFF5-E8DA-E683-B833-2576BC396C77}"/>
              </a:ext>
            </a:extLst>
          </p:cNvPr>
          <p:cNvSpPr txBox="1">
            <a:spLocks noChangeArrowheads="1"/>
          </p:cNvSpPr>
          <p:nvPr/>
        </p:nvSpPr>
        <p:spPr bwMode="auto">
          <a:xfrm>
            <a:off x="4851400" y="5181600"/>
            <a:ext cx="15430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AB</a:t>
            </a:r>
          </a:p>
        </p:txBody>
      </p:sp>
      <p:cxnSp>
        <p:nvCxnSpPr>
          <p:cNvPr id="20" name="Straight Arrow Connector 19">
            <a:extLst>
              <a:ext uri="{FF2B5EF4-FFF2-40B4-BE49-F238E27FC236}">
                <a16:creationId xmlns:a16="http://schemas.microsoft.com/office/drawing/2014/main" id="{CAB4BF50-716C-2D4A-8413-F10AFF77FA6A}"/>
              </a:ext>
            </a:extLst>
          </p:cNvPr>
          <p:cNvCxnSpPr>
            <a:stCxn id="15" idx="2"/>
          </p:cNvCxnSpPr>
          <p:nvPr/>
        </p:nvCxnSpPr>
        <p:spPr>
          <a:xfrm flipH="1">
            <a:off x="3048000" y="4179888"/>
            <a:ext cx="609600" cy="1001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83C3ED2-58A5-ECC1-8B58-DA9832525429}"/>
              </a:ext>
            </a:extLst>
          </p:cNvPr>
          <p:cNvCxnSpPr/>
          <p:nvPr/>
        </p:nvCxnSpPr>
        <p:spPr>
          <a:xfrm>
            <a:off x="4851400" y="4179888"/>
            <a:ext cx="254000" cy="1001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B2B9CDB-D91B-FB14-B8C4-232A8E4BF05C}"/>
              </a:ext>
            </a:extLst>
          </p:cNvPr>
          <p:cNvSpPr txBox="1">
            <a:spLocks noChangeArrowheads="1"/>
          </p:cNvSpPr>
          <p:nvPr/>
        </p:nvSpPr>
        <p:spPr bwMode="auto">
          <a:xfrm>
            <a:off x="6096000" y="3657600"/>
            <a:ext cx="2590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3600">
                <a:solidFill>
                  <a:srgbClr val="00B0F0"/>
                </a:solidFill>
              </a:rPr>
              <a:t>F=AC+AB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57DE79FC-E997-BDF5-C75D-4C8FDCEE2475}"/>
              </a:ext>
            </a:extLst>
          </p:cNvPr>
          <p:cNvSpPr>
            <a:spLocks noGrp="1"/>
          </p:cNvSpPr>
          <p:nvPr>
            <p:ph idx="1"/>
          </p:nvPr>
        </p:nvSpPr>
        <p:spPr>
          <a:xfrm>
            <a:off x="1435100" y="1447800"/>
            <a:ext cx="7499350" cy="1143000"/>
          </a:xfrm>
        </p:spPr>
        <p:txBody>
          <a:bodyPr/>
          <a:lstStyle/>
          <a:p>
            <a:pPr marL="365125" lvl="1" indent="-282575" eaLnBrk="1" hangingPunct="1">
              <a:spcBef>
                <a:spcPts val="600"/>
              </a:spcBef>
              <a:buSzPct val="80000"/>
              <a:buFont typeface="Wingdings 2" panose="05020102010507070707" pitchFamily="18" charset="2"/>
              <a:buChar char=""/>
            </a:pPr>
            <a:r>
              <a:rPr lang="en-US" altLang="en-US" b="1"/>
              <a:t>Draw the logic diagram </a:t>
            </a:r>
            <a:r>
              <a:rPr lang="en-US" altLang="en-US"/>
              <a:t>that represents the simplified Boolean expression. </a:t>
            </a:r>
          </a:p>
        </p:txBody>
      </p:sp>
      <p:sp>
        <p:nvSpPr>
          <p:cNvPr id="27651" name="TextBox 3">
            <a:extLst>
              <a:ext uri="{FF2B5EF4-FFF2-40B4-BE49-F238E27FC236}">
                <a16:creationId xmlns:a16="http://schemas.microsoft.com/office/drawing/2014/main" id="{6BE22E40-83D3-0591-7664-63E9C38C31EC}"/>
              </a:ext>
            </a:extLst>
          </p:cNvPr>
          <p:cNvSpPr txBox="1">
            <a:spLocks noChangeArrowheads="1"/>
          </p:cNvSpPr>
          <p:nvPr/>
        </p:nvSpPr>
        <p:spPr bwMode="auto">
          <a:xfrm>
            <a:off x="1981200" y="2590800"/>
            <a:ext cx="2590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3600">
                <a:solidFill>
                  <a:srgbClr val="00B0F0"/>
                </a:solidFill>
              </a:rPr>
              <a:t>F=AC+AB</a:t>
            </a:r>
          </a:p>
        </p:txBody>
      </p:sp>
      <p:sp>
        <p:nvSpPr>
          <p:cNvPr id="5" name="Flowchart: Delay 4">
            <a:extLst>
              <a:ext uri="{FF2B5EF4-FFF2-40B4-BE49-F238E27FC236}">
                <a16:creationId xmlns:a16="http://schemas.microsoft.com/office/drawing/2014/main" id="{85F07A82-7C83-25C8-27B3-96934A404FC0}"/>
              </a:ext>
            </a:extLst>
          </p:cNvPr>
          <p:cNvSpPr/>
          <p:nvPr/>
        </p:nvSpPr>
        <p:spPr>
          <a:xfrm>
            <a:off x="3352800" y="3505200"/>
            <a:ext cx="685800" cy="762000"/>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Flowchart: Delay 5">
            <a:extLst>
              <a:ext uri="{FF2B5EF4-FFF2-40B4-BE49-F238E27FC236}">
                <a16:creationId xmlns:a16="http://schemas.microsoft.com/office/drawing/2014/main" id="{9DBA0AB6-C4E4-7490-268A-C9545C68D5CA}"/>
              </a:ext>
            </a:extLst>
          </p:cNvPr>
          <p:cNvSpPr/>
          <p:nvPr/>
        </p:nvSpPr>
        <p:spPr>
          <a:xfrm>
            <a:off x="3325813" y="5029200"/>
            <a:ext cx="685800" cy="762000"/>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Moon 6">
            <a:extLst>
              <a:ext uri="{FF2B5EF4-FFF2-40B4-BE49-F238E27FC236}">
                <a16:creationId xmlns:a16="http://schemas.microsoft.com/office/drawing/2014/main" id="{EE34465A-2D95-87B3-C985-47BC1F898501}"/>
              </a:ext>
            </a:extLst>
          </p:cNvPr>
          <p:cNvSpPr/>
          <p:nvPr/>
        </p:nvSpPr>
        <p:spPr>
          <a:xfrm rot="10800000">
            <a:off x="5029200" y="4114800"/>
            <a:ext cx="1219200" cy="1066800"/>
          </a:xfrm>
          <a:prstGeom prst="moon">
            <a:avLst>
              <a:gd name="adj" fmla="val 7686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9" name="Straight Connector 8">
            <a:extLst>
              <a:ext uri="{FF2B5EF4-FFF2-40B4-BE49-F238E27FC236}">
                <a16:creationId xmlns:a16="http://schemas.microsoft.com/office/drawing/2014/main" id="{E5D93AC5-453B-3A6A-5277-37E7D6713EA3}"/>
              </a:ext>
            </a:extLst>
          </p:cNvPr>
          <p:cNvCxnSpPr/>
          <p:nvPr/>
        </p:nvCxnSpPr>
        <p:spPr>
          <a:xfrm>
            <a:off x="4038600" y="38862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A99F9F-DF8C-EE66-5911-4554F0474E4C}"/>
              </a:ext>
            </a:extLst>
          </p:cNvPr>
          <p:cNvCxnSpPr/>
          <p:nvPr/>
        </p:nvCxnSpPr>
        <p:spPr>
          <a:xfrm>
            <a:off x="4724400" y="38862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997CCA3-8EE1-18EC-42EB-A69979A4E6B9}"/>
              </a:ext>
            </a:extLst>
          </p:cNvPr>
          <p:cNvCxnSpPr/>
          <p:nvPr/>
        </p:nvCxnSpPr>
        <p:spPr>
          <a:xfrm flipV="1">
            <a:off x="4724400" y="4572000"/>
            <a:ext cx="60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CFB200B-FA6E-E77C-72F7-2CDCB96FE9A7}"/>
              </a:ext>
            </a:extLst>
          </p:cNvPr>
          <p:cNvCxnSpPr/>
          <p:nvPr/>
        </p:nvCxnSpPr>
        <p:spPr>
          <a:xfrm>
            <a:off x="4011613" y="54102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443B337-D209-0C1F-E0FD-EE55118FCA24}"/>
              </a:ext>
            </a:extLst>
          </p:cNvPr>
          <p:cNvCxnSpPr/>
          <p:nvPr/>
        </p:nvCxnSpPr>
        <p:spPr>
          <a:xfrm>
            <a:off x="4714875" y="47244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3F290A8-3F73-D7F4-9DDE-47D960D2E860}"/>
              </a:ext>
            </a:extLst>
          </p:cNvPr>
          <p:cNvCxnSpPr/>
          <p:nvPr/>
        </p:nvCxnSpPr>
        <p:spPr>
          <a:xfrm flipV="1">
            <a:off x="4724400" y="4724400"/>
            <a:ext cx="609600" cy="0"/>
          </a:xfrm>
          <a:prstGeom prst="line">
            <a:avLst/>
          </a:prstGeom>
        </p:spPr>
        <p:style>
          <a:lnRef idx="1">
            <a:schemeClr val="accent1"/>
          </a:lnRef>
          <a:fillRef idx="0">
            <a:schemeClr val="accent1"/>
          </a:fillRef>
          <a:effectRef idx="0">
            <a:schemeClr val="accent1"/>
          </a:effectRef>
          <a:fontRef idx="minor">
            <a:schemeClr val="tx1"/>
          </a:fontRef>
        </p:style>
      </p:cxnSp>
      <p:sp>
        <p:nvSpPr>
          <p:cNvPr id="27661" name="TextBox 27">
            <a:extLst>
              <a:ext uri="{FF2B5EF4-FFF2-40B4-BE49-F238E27FC236}">
                <a16:creationId xmlns:a16="http://schemas.microsoft.com/office/drawing/2014/main" id="{83A37874-9492-E463-E7C4-828ADD90C91B}"/>
              </a:ext>
            </a:extLst>
          </p:cNvPr>
          <p:cNvSpPr txBox="1">
            <a:spLocks noChangeArrowheads="1"/>
          </p:cNvSpPr>
          <p:nvPr/>
        </p:nvSpPr>
        <p:spPr bwMode="auto">
          <a:xfrm>
            <a:off x="2047875" y="35052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a:t>
            </a:r>
          </a:p>
        </p:txBody>
      </p:sp>
      <p:cxnSp>
        <p:nvCxnSpPr>
          <p:cNvPr id="31" name="Straight Connector 30">
            <a:extLst>
              <a:ext uri="{FF2B5EF4-FFF2-40B4-BE49-F238E27FC236}">
                <a16:creationId xmlns:a16="http://schemas.microsoft.com/office/drawing/2014/main" id="{3B57ADE0-6479-65EB-2AE6-F441AB75DC5C}"/>
              </a:ext>
            </a:extLst>
          </p:cNvPr>
          <p:cNvCxnSpPr/>
          <p:nvPr/>
        </p:nvCxnSpPr>
        <p:spPr>
          <a:xfrm flipV="1">
            <a:off x="2466975" y="3695700"/>
            <a:ext cx="876300" cy="0"/>
          </a:xfrm>
          <a:prstGeom prst="line">
            <a:avLst/>
          </a:prstGeom>
        </p:spPr>
        <p:style>
          <a:lnRef idx="1">
            <a:schemeClr val="accent1"/>
          </a:lnRef>
          <a:fillRef idx="0">
            <a:schemeClr val="accent1"/>
          </a:fillRef>
          <a:effectRef idx="0">
            <a:schemeClr val="accent1"/>
          </a:effectRef>
          <a:fontRef idx="minor">
            <a:schemeClr val="tx1"/>
          </a:fontRef>
        </p:style>
      </p:cxnSp>
      <p:sp>
        <p:nvSpPr>
          <p:cNvPr id="27663" name="TextBox 32">
            <a:extLst>
              <a:ext uri="{FF2B5EF4-FFF2-40B4-BE49-F238E27FC236}">
                <a16:creationId xmlns:a16="http://schemas.microsoft.com/office/drawing/2014/main" id="{EF1B2116-AC70-DC86-EF4E-DCEBCD1BF23F}"/>
              </a:ext>
            </a:extLst>
          </p:cNvPr>
          <p:cNvSpPr txBox="1">
            <a:spLocks noChangeArrowheads="1"/>
          </p:cNvSpPr>
          <p:nvPr/>
        </p:nvSpPr>
        <p:spPr bwMode="auto">
          <a:xfrm>
            <a:off x="2057400" y="38862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C</a:t>
            </a:r>
          </a:p>
        </p:txBody>
      </p:sp>
      <p:cxnSp>
        <p:nvCxnSpPr>
          <p:cNvPr id="34" name="Straight Connector 33">
            <a:extLst>
              <a:ext uri="{FF2B5EF4-FFF2-40B4-BE49-F238E27FC236}">
                <a16:creationId xmlns:a16="http://schemas.microsoft.com/office/drawing/2014/main" id="{5C540A56-1707-4103-1F1A-9E38F4C80B3F}"/>
              </a:ext>
            </a:extLst>
          </p:cNvPr>
          <p:cNvCxnSpPr/>
          <p:nvPr/>
        </p:nvCxnSpPr>
        <p:spPr>
          <a:xfrm flipV="1">
            <a:off x="2476500" y="4076700"/>
            <a:ext cx="876300" cy="0"/>
          </a:xfrm>
          <a:prstGeom prst="line">
            <a:avLst/>
          </a:prstGeom>
        </p:spPr>
        <p:style>
          <a:lnRef idx="1">
            <a:schemeClr val="accent1"/>
          </a:lnRef>
          <a:fillRef idx="0">
            <a:schemeClr val="accent1"/>
          </a:fillRef>
          <a:effectRef idx="0">
            <a:schemeClr val="accent1"/>
          </a:effectRef>
          <a:fontRef idx="minor">
            <a:schemeClr val="tx1"/>
          </a:fontRef>
        </p:style>
      </p:cxnSp>
      <p:sp>
        <p:nvSpPr>
          <p:cNvPr id="27665" name="TextBox 34">
            <a:extLst>
              <a:ext uri="{FF2B5EF4-FFF2-40B4-BE49-F238E27FC236}">
                <a16:creationId xmlns:a16="http://schemas.microsoft.com/office/drawing/2014/main" id="{EE26F503-1950-95B2-EFE8-A8A03950C44C}"/>
              </a:ext>
            </a:extLst>
          </p:cNvPr>
          <p:cNvSpPr txBox="1">
            <a:spLocks noChangeArrowheads="1"/>
          </p:cNvSpPr>
          <p:nvPr/>
        </p:nvSpPr>
        <p:spPr bwMode="auto">
          <a:xfrm>
            <a:off x="2011363" y="50292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a:t>
            </a:r>
          </a:p>
        </p:txBody>
      </p:sp>
      <p:cxnSp>
        <p:nvCxnSpPr>
          <p:cNvPr id="36" name="Straight Connector 35">
            <a:extLst>
              <a:ext uri="{FF2B5EF4-FFF2-40B4-BE49-F238E27FC236}">
                <a16:creationId xmlns:a16="http://schemas.microsoft.com/office/drawing/2014/main" id="{D410FAAB-43A4-4B55-32B4-A2CFB6F641B2}"/>
              </a:ext>
            </a:extLst>
          </p:cNvPr>
          <p:cNvCxnSpPr/>
          <p:nvPr/>
        </p:nvCxnSpPr>
        <p:spPr>
          <a:xfrm flipV="1">
            <a:off x="2430463" y="5219700"/>
            <a:ext cx="876300" cy="0"/>
          </a:xfrm>
          <a:prstGeom prst="line">
            <a:avLst/>
          </a:prstGeom>
        </p:spPr>
        <p:style>
          <a:lnRef idx="1">
            <a:schemeClr val="accent1"/>
          </a:lnRef>
          <a:fillRef idx="0">
            <a:schemeClr val="accent1"/>
          </a:fillRef>
          <a:effectRef idx="0">
            <a:schemeClr val="accent1"/>
          </a:effectRef>
          <a:fontRef idx="minor">
            <a:schemeClr val="tx1"/>
          </a:fontRef>
        </p:style>
      </p:cxnSp>
      <p:sp>
        <p:nvSpPr>
          <p:cNvPr id="27667" name="TextBox 36">
            <a:extLst>
              <a:ext uri="{FF2B5EF4-FFF2-40B4-BE49-F238E27FC236}">
                <a16:creationId xmlns:a16="http://schemas.microsoft.com/office/drawing/2014/main" id="{EF2684CA-490B-3A88-F0B6-D5E8A2AFDBCA}"/>
              </a:ext>
            </a:extLst>
          </p:cNvPr>
          <p:cNvSpPr txBox="1">
            <a:spLocks noChangeArrowheads="1"/>
          </p:cNvSpPr>
          <p:nvPr/>
        </p:nvSpPr>
        <p:spPr bwMode="auto">
          <a:xfrm>
            <a:off x="2020888" y="54102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B</a:t>
            </a:r>
          </a:p>
        </p:txBody>
      </p:sp>
      <p:cxnSp>
        <p:nvCxnSpPr>
          <p:cNvPr id="38" name="Straight Connector 37">
            <a:extLst>
              <a:ext uri="{FF2B5EF4-FFF2-40B4-BE49-F238E27FC236}">
                <a16:creationId xmlns:a16="http://schemas.microsoft.com/office/drawing/2014/main" id="{010F7E07-78F7-0635-9CCB-9273BE203C0D}"/>
              </a:ext>
            </a:extLst>
          </p:cNvPr>
          <p:cNvCxnSpPr/>
          <p:nvPr/>
        </p:nvCxnSpPr>
        <p:spPr>
          <a:xfrm flipV="1">
            <a:off x="2439988" y="5600700"/>
            <a:ext cx="8763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6C80341-72C8-C0FC-94EF-FC016E7446F2}"/>
              </a:ext>
            </a:extLst>
          </p:cNvPr>
          <p:cNvCxnSpPr/>
          <p:nvPr/>
        </p:nvCxnSpPr>
        <p:spPr>
          <a:xfrm flipV="1">
            <a:off x="6248400" y="4632325"/>
            <a:ext cx="876300" cy="0"/>
          </a:xfrm>
          <a:prstGeom prst="line">
            <a:avLst/>
          </a:prstGeom>
        </p:spPr>
        <p:style>
          <a:lnRef idx="1">
            <a:schemeClr val="accent1"/>
          </a:lnRef>
          <a:fillRef idx="0">
            <a:schemeClr val="accent1"/>
          </a:fillRef>
          <a:effectRef idx="0">
            <a:schemeClr val="accent1"/>
          </a:effectRef>
          <a:fontRef idx="minor">
            <a:schemeClr val="tx1"/>
          </a:fontRef>
        </p:style>
      </p:cxnSp>
      <p:sp>
        <p:nvSpPr>
          <p:cNvPr id="27670" name="TextBox 39">
            <a:extLst>
              <a:ext uri="{FF2B5EF4-FFF2-40B4-BE49-F238E27FC236}">
                <a16:creationId xmlns:a16="http://schemas.microsoft.com/office/drawing/2014/main" id="{DE1A5762-CDF5-B68A-9512-5D3C1B4D2A9C}"/>
              </a:ext>
            </a:extLst>
          </p:cNvPr>
          <p:cNvSpPr txBox="1">
            <a:spLocks noChangeArrowheads="1"/>
          </p:cNvSpPr>
          <p:nvPr/>
        </p:nvSpPr>
        <p:spPr bwMode="auto">
          <a:xfrm>
            <a:off x="7277100" y="4430713"/>
            <a:ext cx="64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400"/>
              <a:t>F</a:t>
            </a:r>
          </a:p>
        </p:txBody>
      </p:sp>
      <p:sp>
        <p:nvSpPr>
          <p:cNvPr id="41" name="Title 1">
            <a:extLst>
              <a:ext uri="{FF2B5EF4-FFF2-40B4-BE49-F238E27FC236}">
                <a16:creationId xmlns:a16="http://schemas.microsoft.com/office/drawing/2014/main" id="{B55F7470-47C5-5D05-0330-8EC4C94235C4}"/>
              </a:ext>
            </a:extLst>
          </p:cNvPr>
          <p:cNvSpPr>
            <a:spLocks noGrp="1"/>
          </p:cNvSpPr>
          <p:nvPr>
            <p:ph type="title"/>
          </p:nvPr>
        </p:nvSpPr>
        <p:spPr/>
        <p:txBody>
          <a:bodyPr/>
          <a:lstStyle/>
          <a:p>
            <a:pPr eaLnBrk="1" hangingPunct="1">
              <a:defRPr/>
            </a:pPr>
            <a:r>
              <a:rPr lang="en-US" dirty="0"/>
              <a:t>Design Examples(Cont.)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923A3B3-3B60-F2CE-ABF2-0F6181C6659D}"/>
              </a:ext>
            </a:extLst>
          </p:cNvPr>
          <p:cNvSpPr>
            <a:spLocks noGrp="1"/>
          </p:cNvSpPr>
          <p:nvPr>
            <p:ph type="title"/>
          </p:nvPr>
        </p:nvSpPr>
        <p:spPr/>
        <p:txBody>
          <a:bodyPr/>
          <a:lstStyle/>
          <a:p>
            <a:pPr eaLnBrk="1" hangingPunct="1">
              <a:defRPr/>
            </a:pPr>
            <a:r>
              <a:rPr lang="en-US" dirty="0"/>
              <a:t>K-map</a:t>
            </a:r>
          </a:p>
        </p:txBody>
      </p:sp>
      <p:graphicFrame>
        <p:nvGraphicFramePr>
          <p:cNvPr id="6" name="Table 5">
            <a:extLst>
              <a:ext uri="{FF2B5EF4-FFF2-40B4-BE49-F238E27FC236}">
                <a16:creationId xmlns:a16="http://schemas.microsoft.com/office/drawing/2014/main" id="{8280EFB6-2471-C49E-F1B2-6AC41696C394}"/>
              </a:ext>
            </a:extLst>
          </p:cNvPr>
          <p:cNvGraphicFramePr>
            <a:graphicFrameLocks noGrp="1"/>
          </p:cNvGraphicFramePr>
          <p:nvPr/>
        </p:nvGraphicFramePr>
        <p:xfrm>
          <a:off x="1981200" y="1387475"/>
          <a:ext cx="3657600" cy="129540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6477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77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8692" name="TextBox 1">
            <a:extLst>
              <a:ext uri="{FF2B5EF4-FFF2-40B4-BE49-F238E27FC236}">
                <a16:creationId xmlns:a16="http://schemas.microsoft.com/office/drawing/2014/main" id="{3D797DB2-7D86-BCF5-043B-739B69B5F256}"/>
              </a:ext>
            </a:extLst>
          </p:cNvPr>
          <p:cNvSpPr txBox="1">
            <a:spLocks noChangeArrowheads="1"/>
          </p:cNvSpPr>
          <p:nvPr/>
        </p:nvSpPr>
        <p:spPr bwMode="auto">
          <a:xfrm>
            <a:off x="1473200" y="2149475"/>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a:t>
            </a:r>
          </a:p>
        </p:txBody>
      </p:sp>
      <p:sp>
        <p:nvSpPr>
          <p:cNvPr id="28693" name="TextBox 6">
            <a:extLst>
              <a:ext uri="{FF2B5EF4-FFF2-40B4-BE49-F238E27FC236}">
                <a16:creationId xmlns:a16="http://schemas.microsoft.com/office/drawing/2014/main" id="{1671CCFA-D80A-740A-EA90-0DE31C756E34}"/>
              </a:ext>
            </a:extLst>
          </p:cNvPr>
          <p:cNvSpPr txBox="1">
            <a:spLocks noChangeArrowheads="1"/>
          </p:cNvSpPr>
          <p:nvPr/>
        </p:nvSpPr>
        <p:spPr bwMode="auto">
          <a:xfrm>
            <a:off x="3657600" y="2759075"/>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C</a:t>
            </a:r>
          </a:p>
        </p:txBody>
      </p:sp>
      <p:sp>
        <p:nvSpPr>
          <p:cNvPr id="28694" name="TextBox 7">
            <a:extLst>
              <a:ext uri="{FF2B5EF4-FFF2-40B4-BE49-F238E27FC236}">
                <a16:creationId xmlns:a16="http://schemas.microsoft.com/office/drawing/2014/main" id="{6978FB27-E661-304D-961A-75D27F42A5FC}"/>
              </a:ext>
            </a:extLst>
          </p:cNvPr>
          <p:cNvSpPr txBox="1">
            <a:spLocks noChangeArrowheads="1"/>
          </p:cNvSpPr>
          <p:nvPr/>
        </p:nvSpPr>
        <p:spPr bwMode="auto">
          <a:xfrm>
            <a:off x="4495800" y="9239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B</a:t>
            </a:r>
          </a:p>
        </p:txBody>
      </p:sp>
      <p:cxnSp>
        <p:nvCxnSpPr>
          <p:cNvPr id="9" name="Straight Connector 8">
            <a:extLst>
              <a:ext uri="{FF2B5EF4-FFF2-40B4-BE49-F238E27FC236}">
                <a16:creationId xmlns:a16="http://schemas.microsoft.com/office/drawing/2014/main" id="{4178DC88-91E5-FC07-7082-3766ACFD39A5}"/>
              </a:ext>
            </a:extLst>
          </p:cNvPr>
          <p:cNvCxnSpPr/>
          <p:nvPr/>
        </p:nvCxnSpPr>
        <p:spPr>
          <a:xfrm>
            <a:off x="4152900" y="1311275"/>
            <a:ext cx="1143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CB12566-6F3F-5561-FF4B-058982BC8726}"/>
              </a:ext>
            </a:extLst>
          </p:cNvPr>
          <p:cNvCxnSpPr/>
          <p:nvPr/>
        </p:nvCxnSpPr>
        <p:spPr>
          <a:xfrm>
            <a:off x="3125788" y="2759075"/>
            <a:ext cx="1143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CA6AAAFD-C908-1759-FBF2-4CD93988521E}"/>
              </a:ext>
            </a:extLst>
          </p:cNvPr>
          <p:cNvGraphicFramePr>
            <a:graphicFrameLocks noGrp="1"/>
          </p:cNvGraphicFramePr>
          <p:nvPr/>
        </p:nvGraphicFramePr>
        <p:xfrm>
          <a:off x="2028825" y="3810000"/>
          <a:ext cx="3657600" cy="129540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6477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77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8714" name="TextBox 12">
            <a:extLst>
              <a:ext uri="{FF2B5EF4-FFF2-40B4-BE49-F238E27FC236}">
                <a16:creationId xmlns:a16="http://schemas.microsoft.com/office/drawing/2014/main" id="{4B16EA1E-7419-19C4-AB14-EAF54AE4C8E0}"/>
              </a:ext>
            </a:extLst>
          </p:cNvPr>
          <p:cNvSpPr txBox="1">
            <a:spLocks noChangeArrowheads="1"/>
          </p:cNvSpPr>
          <p:nvPr/>
        </p:nvSpPr>
        <p:spPr bwMode="auto">
          <a:xfrm>
            <a:off x="4460875" y="334645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C</a:t>
            </a:r>
          </a:p>
        </p:txBody>
      </p:sp>
      <p:cxnSp>
        <p:nvCxnSpPr>
          <p:cNvPr id="14" name="Straight Connector 13">
            <a:extLst>
              <a:ext uri="{FF2B5EF4-FFF2-40B4-BE49-F238E27FC236}">
                <a16:creationId xmlns:a16="http://schemas.microsoft.com/office/drawing/2014/main" id="{43264801-23F3-ECF9-D525-92EB0BBC4C19}"/>
              </a:ext>
            </a:extLst>
          </p:cNvPr>
          <p:cNvCxnSpPr/>
          <p:nvPr/>
        </p:nvCxnSpPr>
        <p:spPr>
          <a:xfrm>
            <a:off x="4200525" y="3733800"/>
            <a:ext cx="1143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8716" name="TextBox 16">
            <a:extLst>
              <a:ext uri="{FF2B5EF4-FFF2-40B4-BE49-F238E27FC236}">
                <a16:creationId xmlns:a16="http://schemas.microsoft.com/office/drawing/2014/main" id="{0556F09E-8417-D082-2977-96D4986779C8}"/>
              </a:ext>
            </a:extLst>
          </p:cNvPr>
          <p:cNvSpPr txBox="1">
            <a:spLocks noChangeArrowheads="1"/>
          </p:cNvSpPr>
          <p:nvPr/>
        </p:nvSpPr>
        <p:spPr bwMode="auto">
          <a:xfrm>
            <a:off x="1525588" y="5580063"/>
            <a:ext cx="38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A</a:t>
            </a:r>
          </a:p>
        </p:txBody>
      </p:sp>
      <p:sp>
        <p:nvSpPr>
          <p:cNvPr id="28717" name="TextBox 17">
            <a:extLst>
              <a:ext uri="{FF2B5EF4-FFF2-40B4-BE49-F238E27FC236}">
                <a16:creationId xmlns:a16="http://schemas.microsoft.com/office/drawing/2014/main" id="{E1040DEC-AA7C-5934-7A14-50042A56F955}"/>
              </a:ext>
            </a:extLst>
          </p:cNvPr>
          <p:cNvSpPr txBox="1">
            <a:spLocks noChangeArrowheads="1"/>
          </p:cNvSpPr>
          <p:nvPr/>
        </p:nvSpPr>
        <p:spPr bwMode="auto">
          <a:xfrm>
            <a:off x="3698875" y="6489700"/>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D</a:t>
            </a:r>
          </a:p>
        </p:txBody>
      </p:sp>
      <p:cxnSp>
        <p:nvCxnSpPr>
          <p:cNvPr id="20" name="Straight Connector 19">
            <a:extLst>
              <a:ext uri="{FF2B5EF4-FFF2-40B4-BE49-F238E27FC236}">
                <a16:creationId xmlns:a16="http://schemas.microsoft.com/office/drawing/2014/main" id="{6698D47E-0407-823F-7E90-DAE74D26B156}"/>
              </a:ext>
            </a:extLst>
          </p:cNvPr>
          <p:cNvCxnSpPr/>
          <p:nvPr/>
        </p:nvCxnSpPr>
        <p:spPr>
          <a:xfrm>
            <a:off x="3167063" y="6489700"/>
            <a:ext cx="1143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8719" name="TextBox 20">
            <a:extLst>
              <a:ext uri="{FF2B5EF4-FFF2-40B4-BE49-F238E27FC236}">
                <a16:creationId xmlns:a16="http://schemas.microsoft.com/office/drawing/2014/main" id="{503106A4-3ABD-8B78-9CD0-EA769A46DBBF}"/>
              </a:ext>
            </a:extLst>
          </p:cNvPr>
          <p:cNvSpPr txBox="1">
            <a:spLocks noChangeArrowheads="1"/>
          </p:cNvSpPr>
          <p:nvPr/>
        </p:nvSpPr>
        <p:spPr bwMode="auto">
          <a:xfrm>
            <a:off x="6096000" y="5041900"/>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a:t>B</a:t>
            </a:r>
          </a:p>
        </p:txBody>
      </p:sp>
      <p:cxnSp>
        <p:nvCxnSpPr>
          <p:cNvPr id="23" name="Straight Connector 22">
            <a:extLst>
              <a:ext uri="{FF2B5EF4-FFF2-40B4-BE49-F238E27FC236}">
                <a16:creationId xmlns:a16="http://schemas.microsoft.com/office/drawing/2014/main" id="{B83DB9F6-EE20-94B2-883E-AFC6A66DBA39}"/>
              </a:ext>
            </a:extLst>
          </p:cNvPr>
          <p:cNvCxnSpPr/>
          <p:nvPr/>
        </p:nvCxnSpPr>
        <p:spPr>
          <a:xfrm>
            <a:off x="1906588" y="5226050"/>
            <a:ext cx="0" cy="10985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3DDAD4-D93B-7E4C-F9AD-1A1DC274E263}"/>
              </a:ext>
            </a:extLst>
          </p:cNvPr>
          <p:cNvCxnSpPr/>
          <p:nvPr/>
        </p:nvCxnSpPr>
        <p:spPr>
          <a:xfrm>
            <a:off x="5943600" y="4578350"/>
            <a:ext cx="0" cy="10985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26" name="Table 25">
            <a:extLst>
              <a:ext uri="{FF2B5EF4-FFF2-40B4-BE49-F238E27FC236}">
                <a16:creationId xmlns:a16="http://schemas.microsoft.com/office/drawing/2014/main" id="{E91DA9F0-4583-8D8E-8D0D-82296ACA1459}"/>
              </a:ext>
            </a:extLst>
          </p:cNvPr>
          <p:cNvGraphicFramePr>
            <a:graphicFrameLocks noGrp="1"/>
          </p:cNvGraphicFramePr>
          <p:nvPr/>
        </p:nvGraphicFramePr>
        <p:xfrm>
          <a:off x="2022475" y="5118100"/>
          <a:ext cx="3657600" cy="129540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6477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77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8739" name="TextBox 26">
            <a:extLst>
              <a:ext uri="{FF2B5EF4-FFF2-40B4-BE49-F238E27FC236}">
                <a16:creationId xmlns:a16="http://schemas.microsoft.com/office/drawing/2014/main" id="{B22D4DF9-D7EA-23A3-00FA-4FAB9BF1F6EF}"/>
              </a:ext>
            </a:extLst>
          </p:cNvPr>
          <p:cNvSpPr txBox="1">
            <a:spLocks noChangeArrowheads="1"/>
          </p:cNvSpPr>
          <p:nvPr/>
        </p:nvSpPr>
        <p:spPr bwMode="auto">
          <a:xfrm>
            <a:off x="6446838" y="1549400"/>
            <a:ext cx="1782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400">
                <a:solidFill>
                  <a:srgbClr val="FF0000"/>
                </a:solidFill>
              </a:rPr>
              <a:t>3-Variables </a:t>
            </a:r>
          </a:p>
        </p:txBody>
      </p:sp>
      <p:sp>
        <p:nvSpPr>
          <p:cNvPr id="28740" name="TextBox 27">
            <a:extLst>
              <a:ext uri="{FF2B5EF4-FFF2-40B4-BE49-F238E27FC236}">
                <a16:creationId xmlns:a16="http://schemas.microsoft.com/office/drawing/2014/main" id="{7766C346-5CD4-C841-483A-16CF21C04F53}"/>
              </a:ext>
            </a:extLst>
          </p:cNvPr>
          <p:cNvSpPr txBox="1">
            <a:spLocks noChangeArrowheads="1"/>
          </p:cNvSpPr>
          <p:nvPr/>
        </p:nvSpPr>
        <p:spPr bwMode="auto">
          <a:xfrm>
            <a:off x="6629400" y="4672013"/>
            <a:ext cx="1676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400">
                <a:solidFill>
                  <a:srgbClr val="FF0000"/>
                </a:solidFill>
              </a:rPr>
              <a:t>4-Variables </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BD9ED-BFB5-8CEE-B68C-1E0F70220BA9}"/>
              </a:ext>
            </a:extLst>
          </p:cNvPr>
          <p:cNvSpPr>
            <a:spLocks noGrp="1"/>
          </p:cNvSpPr>
          <p:nvPr>
            <p:ph type="title"/>
          </p:nvPr>
        </p:nvSpPr>
        <p:spPr/>
        <p:txBody>
          <a:bodyPr/>
          <a:lstStyle/>
          <a:p>
            <a:pPr eaLnBrk="1" hangingPunct="1">
              <a:defRPr/>
            </a:pPr>
            <a:r>
              <a:rPr lang="en-US" dirty="0"/>
              <a:t>Homework1</a:t>
            </a:r>
          </a:p>
        </p:txBody>
      </p:sp>
      <p:sp>
        <p:nvSpPr>
          <p:cNvPr id="29699" name="Content Placeholder 2">
            <a:extLst>
              <a:ext uri="{FF2B5EF4-FFF2-40B4-BE49-F238E27FC236}">
                <a16:creationId xmlns:a16="http://schemas.microsoft.com/office/drawing/2014/main" id="{FDB4AE0A-DDC9-1471-94A5-E4B6C1378974}"/>
              </a:ext>
            </a:extLst>
          </p:cNvPr>
          <p:cNvSpPr>
            <a:spLocks noGrp="1"/>
          </p:cNvSpPr>
          <p:nvPr>
            <p:ph idx="1"/>
          </p:nvPr>
        </p:nvSpPr>
        <p:spPr/>
        <p:txBody>
          <a:bodyPr/>
          <a:lstStyle/>
          <a:p>
            <a:pPr eaLnBrk="1" hangingPunct="1"/>
            <a:r>
              <a:rPr lang="en-US" altLang="en-US"/>
              <a:t>Design a combinational circuit with three inputs and one output. The output is 1 when the binary value of the inputs is less than 3. The output is 0 otherwise.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92CE4-E5C8-0FD1-8245-E6A5C5C15161}"/>
              </a:ext>
            </a:extLst>
          </p:cNvPr>
          <p:cNvSpPr>
            <a:spLocks noGrp="1"/>
          </p:cNvSpPr>
          <p:nvPr>
            <p:ph type="title"/>
          </p:nvPr>
        </p:nvSpPr>
        <p:spPr/>
        <p:txBody>
          <a:bodyPr/>
          <a:lstStyle/>
          <a:p>
            <a:pPr eaLnBrk="1" hangingPunct="1">
              <a:defRPr/>
            </a:pPr>
            <a:endParaRPr lang="en-US"/>
          </a:p>
        </p:txBody>
      </p:sp>
      <p:sp>
        <p:nvSpPr>
          <p:cNvPr id="30723" name="Content Placeholder 2">
            <a:extLst>
              <a:ext uri="{FF2B5EF4-FFF2-40B4-BE49-F238E27FC236}">
                <a16:creationId xmlns:a16="http://schemas.microsoft.com/office/drawing/2014/main" id="{24EB1D2D-12A8-A117-A897-3909AB34FCB6}"/>
              </a:ext>
            </a:extLst>
          </p:cNvPr>
          <p:cNvSpPr>
            <a:spLocks noGrp="1"/>
          </p:cNvSpPr>
          <p:nvPr>
            <p:ph idx="1"/>
          </p:nvPr>
        </p:nvSpPr>
        <p:spPr/>
        <p:txBody>
          <a:bodyPr/>
          <a:lstStyle/>
          <a:p>
            <a:pPr eaLnBrk="1" hangingPunct="1"/>
            <a:endParaRPr lang="en-US" altLang="en-US"/>
          </a:p>
        </p:txBody>
      </p:sp>
      <p:pic>
        <p:nvPicPr>
          <p:cNvPr id="30724" name="Picture 3">
            <a:extLst>
              <a:ext uri="{FF2B5EF4-FFF2-40B4-BE49-F238E27FC236}">
                <a16:creationId xmlns:a16="http://schemas.microsoft.com/office/drawing/2014/main" id="{DB596FC7-C9E6-535B-889E-A1A9FF6668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0975"/>
            <a:ext cx="7024688" cy="584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A6A9CBBC-F713-3762-4BA0-CF537C4EF06F}"/>
              </a:ext>
            </a:extLst>
          </p:cNvPr>
          <p:cNvSpPr>
            <a:spLocks noGrp="1" noChangeArrowheads="1"/>
          </p:cNvSpPr>
          <p:nvPr>
            <p:ph type="title"/>
          </p:nvPr>
        </p:nvSpPr>
        <p:spPr>
          <a:xfrm>
            <a:off x="990600" y="228600"/>
            <a:ext cx="6934200" cy="722313"/>
          </a:xfrm>
        </p:spPr>
        <p:txBody>
          <a:bodyPr>
            <a:normAutofit fontScale="90000"/>
          </a:bodyPr>
          <a:lstStyle/>
          <a:p>
            <a:pPr eaLnBrk="1" fontAlgn="auto" hangingPunct="1">
              <a:spcAft>
                <a:spcPts val="0"/>
              </a:spcAft>
              <a:defRPr/>
            </a:pPr>
            <a:r>
              <a:rPr lang="en-US" dirty="0">
                <a:solidFill>
                  <a:schemeClr val="tx2">
                    <a:satMod val="130000"/>
                  </a:schemeClr>
                </a:solidFill>
              </a:rPr>
              <a:t>Binary Adder-</a:t>
            </a:r>
            <a:r>
              <a:rPr lang="en-US" dirty="0" err="1">
                <a:solidFill>
                  <a:schemeClr val="tx2">
                    <a:satMod val="130000"/>
                  </a:schemeClr>
                </a:solidFill>
              </a:rPr>
              <a:t>Subtractor</a:t>
            </a:r>
            <a:endParaRPr lang="en-US" dirty="0">
              <a:solidFill>
                <a:schemeClr val="tx2">
                  <a:satMod val="130000"/>
                </a:schemeClr>
              </a:solidFill>
            </a:endParaRPr>
          </a:p>
        </p:txBody>
      </p:sp>
      <p:sp>
        <p:nvSpPr>
          <p:cNvPr id="16388" name="Rectangle 3">
            <a:extLst>
              <a:ext uri="{FF2B5EF4-FFF2-40B4-BE49-F238E27FC236}">
                <a16:creationId xmlns:a16="http://schemas.microsoft.com/office/drawing/2014/main" id="{921205FA-4B98-6A6D-6B0D-436BC3926308}"/>
              </a:ext>
            </a:extLst>
          </p:cNvPr>
          <p:cNvSpPr>
            <a:spLocks noGrp="1" noChangeArrowheads="1"/>
          </p:cNvSpPr>
          <p:nvPr>
            <p:ph type="body" idx="1"/>
          </p:nvPr>
        </p:nvSpPr>
        <p:spPr>
          <a:xfrm>
            <a:off x="1020763" y="990600"/>
            <a:ext cx="7818437" cy="5562600"/>
          </a:xfrm>
        </p:spPr>
        <p:txBody>
          <a:bodyPr>
            <a:normAutofit/>
          </a:bodyPr>
          <a:lstStyle/>
          <a:p>
            <a:pPr marL="365760" indent="-283464" eaLnBrk="1" fontAlgn="auto" hangingPunct="1">
              <a:lnSpc>
                <a:spcPct val="90000"/>
              </a:lnSpc>
              <a:spcAft>
                <a:spcPts val="0"/>
              </a:spcAft>
              <a:buClr>
                <a:schemeClr val="tx2"/>
              </a:buClr>
              <a:buFont typeface="Wingdings 2"/>
              <a:buChar char=""/>
              <a:defRPr/>
            </a:pPr>
            <a:r>
              <a:rPr lang="en-US" sz="2000" b="1" dirty="0"/>
              <a:t>Digital computers must perform basic arithmetic operations.</a:t>
            </a:r>
          </a:p>
          <a:p>
            <a:pPr marL="640080" lvl="1" indent="-237744" eaLnBrk="1" fontAlgn="auto" hangingPunct="1">
              <a:lnSpc>
                <a:spcPct val="90000"/>
              </a:lnSpc>
              <a:spcAft>
                <a:spcPts val="0"/>
              </a:spcAft>
              <a:buFont typeface="Verdana"/>
              <a:buChar char="◦"/>
              <a:defRPr/>
            </a:pPr>
            <a:r>
              <a:rPr lang="en-US" sz="2000" b="1" dirty="0"/>
              <a:t>0 + 0 = 0.</a:t>
            </a:r>
          </a:p>
          <a:p>
            <a:pPr marL="640080" lvl="1" indent="-237744" eaLnBrk="1" fontAlgn="auto" hangingPunct="1">
              <a:lnSpc>
                <a:spcPct val="90000"/>
              </a:lnSpc>
              <a:spcAft>
                <a:spcPts val="0"/>
              </a:spcAft>
              <a:buFont typeface="Verdana"/>
              <a:buChar char="◦"/>
              <a:defRPr/>
            </a:pPr>
            <a:r>
              <a:rPr lang="en-US" sz="2000" b="1" dirty="0"/>
              <a:t>0 + 1 = 1.</a:t>
            </a:r>
          </a:p>
          <a:p>
            <a:pPr marL="640080" lvl="1" indent="-237744" eaLnBrk="1" fontAlgn="auto" hangingPunct="1">
              <a:lnSpc>
                <a:spcPct val="90000"/>
              </a:lnSpc>
              <a:spcAft>
                <a:spcPts val="0"/>
              </a:spcAft>
              <a:buFont typeface="Verdana"/>
              <a:buChar char="◦"/>
              <a:defRPr/>
            </a:pPr>
            <a:r>
              <a:rPr lang="en-US" sz="2000" b="1" dirty="0"/>
              <a:t>1 + 0 = 1.</a:t>
            </a:r>
          </a:p>
          <a:p>
            <a:pPr marL="640080" lvl="1" indent="-237744" eaLnBrk="1" fontAlgn="auto" hangingPunct="1">
              <a:lnSpc>
                <a:spcPct val="90000"/>
              </a:lnSpc>
              <a:spcAft>
                <a:spcPts val="0"/>
              </a:spcAft>
              <a:buFont typeface="Verdana"/>
              <a:buChar char="◦"/>
              <a:defRPr/>
            </a:pPr>
            <a:r>
              <a:rPr lang="en-US" sz="2000" b="1" dirty="0"/>
              <a:t>1 + 1 = 10       Note: the higher order bit is a carry.</a:t>
            </a:r>
          </a:p>
          <a:p>
            <a:pPr marL="402336" lvl="1" indent="0" eaLnBrk="1" fontAlgn="auto" hangingPunct="1">
              <a:lnSpc>
                <a:spcPct val="90000"/>
              </a:lnSpc>
              <a:spcAft>
                <a:spcPts val="0"/>
              </a:spcAft>
              <a:buFont typeface="Verdana"/>
              <a:buNone/>
              <a:defRPr/>
            </a:pPr>
            <a:endParaRPr lang="en-US" sz="2000" b="1" dirty="0"/>
          </a:p>
          <a:p>
            <a:pPr marL="365760" indent="-283464" eaLnBrk="1" fontAlgn="auto" hangingPunct="1">
              <a:lnSpc>
                <a:spcPct val="90000"/>
              </a:lnSpc>
              <a:spcAft>
                <a:spcPts val="0"/>
              </a:spcAft>
              <a:buClr>
                <a:schemeClr val="tx2"/>
              </a:buClr>
              <a:buFont typeface="Wingdings 2"/>
              <a:buChar char=""/>
              <a:defRPr/>
            </a:pPr>
            <a:r>
              <a:rPr lang="en-US" sz="2000" b="1" dirty="0"/>
              <a:t>A combinational circuit that performs addition for two bits is called a </a:t>
            </a:r>
            <a:r>
              <a:rPr lang="en-US" sz="2000" b="1" dirty="0">
                <a:solidFill>
                  <a:srgbClr val="FF5050"/>
                </a:solidFill>
              </a:rPr>
              <a:t>half adder</a:t>
            </a:r>
            <a:r>
              <a:rPr lang="en-US" sz="2000" b="1" dirty="0"/>
              <a:t>.</a:t>
            </a:r>
          </a:p>
          <a:p>
            <a:pPr marL="82296" indent="0" eaLnBrk="1" fontAlgn="auto" hangingPunct="1">
              <a:lnSpc>
                <a:spcPct val="90000"/>
              </a:lnSpc>
              <a:spcAft>
                <a:spcPts val="0"/>
              </a:spcAft>
              <a:buClr>
                <a:schemeClr val="tx2"/>
              </a:buClr>
              <a:buFont typeface="Wingdings 2"/>
              <a:buNone/>
              <a:defRPr/>
            </a:pPr>
            <a:endParaRPr lang="en-US" sz="2000" b="1" dirty="0"/>
          </a:p>
          <a:p>
            <a:pPr marL="365760" indent="-283464" eaLnBrk="1" fontAlgn="auto" hangingPunct="1">
              <a:lnSpc>
                <a:spcPct val="90000"/>
              </a:lnSpc>
              <a:spcAft>
                <a:spcPts val="0"/>
              </a:spcAft>
              <a:buClr>
                <a:schemeClr val="tx2"/>
              </a:buClr>
              <a:buFont typeface="Wingdings 2"/>
              <a:buChar char=""/>
              <a:defRPr/>
            </a:pPr>
            <a:r>
              <a:rPr lang="en-US" sz="2000" b="1" dirty="0"/>
              <a:t>A combinational circuit that performs addition of three bits is a </a:t>
            </a:r>
            <a:r>
              <a:rPr lang="en-US" sz="2000" b="1" dirty="0">
                <a:solidFill>
                  <a:srgbClr val="FF5050"/>
                </a:solidFill>
              </a:rPr>
              <a:t>full adder.</a:t>
            </a:r>
          </a:p>
          <a:p>
            <a:pPr marL="640080" lvl="1" indent="-237744" eaLnBrk="1" fontAlgn="auto" hangingPunct="1">
              <a:lnSpc>
                <a:spcPct val="90000"/>
              </a:lnSpc>
              <a:spcAft>
                <a:spcPts val="0"/>
              </a:spcAft>
              <a:buFont typeface="Verdana"/>
              <a:buChar char="◦"/>
              <a:defRPr/>
            </a:pPr>
            <a:r>
              <a:rPr lang="en-US" sz="2000" b="1" dirty="0"/>
              <a:t>Two half adders can be combined to create a full adder.</a:t>
            </a:r>
          </a:p>
          <a:p>
            <a:pPr marL="402336" lvl="1" indent="0" eaLnBrk="1" fontAlgn="auto" hangingPunct="1">
              <a:lnSpc>
                <a:spcPct val="90000"/>
              </a:lnSpc>
              <a:spcAft>
                <a:spcPts val="0"/>
              </a:spcAft>
              <a:buFont typeface="Verdana"/>
              <a:buNone/>
              <a:defRPr/>
            </a:pPr>
            <a:endParaRPr lang="en-US" sz="2000" b="1" dirty="0"/>
          </a:p>
          <a:p>
            <a:pPr marL="365760" indent="-283464" eaLnBrk="1" fontAlgn="auto" hangingPunct="1">
              <a:lnSpc>
                <a:spcPct val="90000"/>
              </a:lnSpc>
              <a:spcAft>
                <a:spcPts val="0"/>
              </a:spcAft>
              <a:buClr>
                <a:schemeClr val="tx2"/>
              </a:buClr>
              <a:buFont typeface="Wingdings 2"/>
              <a:buChar char=""/>
              <a:defRPr/>
            </a:pPr>
            <a:r>
              <a:rPr lang="en-US" sz="2000" b="1" dirty="0"/>
              <a:t>A </a:t>
            </a:r>
            <a:r>
              <a:rPr lang="en-US" sz="2000" b="1" dirty="0">
                <a:solidFill>
                  <a:srgbClr val="FF5050"/>
                </a:solidFill>
              </a:rPr>
              <a:t>binary adder-</a:t>
            </a:r>
            <a:r>
              <a:rPr lang="en-US" sz="2000" b="1" dirty="0" err="1">
                <a:solidFill>
                  <a:srgbClr val="FF5050"/>
                </a:solidFill>
              </a:rPr>
              <a:t>subtractor</a:t>
            </a:r>
            <a:r>
              <a:rPr lang="en-US" sz="2000" b="1" dirty="0"/>
              <a:t> performs both addition and subtraction with binary numbers.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C804F4E2-0FD5-14B9-C07E-33ACF8009299}"/>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Half Adder</a:t>
            </a:r>
          </a:p>
        </p:txBody>
      </p:sp>
      <p:sp>
        <p:nvSpPr>
          <p:cNvPr id="17412" name="Rectangle 3">
            <a:extLst>
              <a:ext uri="{FF2B5EF4-FFF2-40B4-BE49-F238E27FC236}">
                <a16:creationId xmlns:a16="http://schemas.microsoft.com/office/drawing/2014/main" id="{97F40946-C120-1D87-13CD-3BCABE345F26}"/>
              </a:ext>
            </a:extLst>
          </p:cNvPr>
          <p:cNvSpPr>
            <a:spLocks noGrp="1" noChangeArrowheads="1"/>
          </p:cNvSpPr>
          <p:nvPr>
            <p:ph type="body" idx="1"/>
          </p:nvPr>
        </p:nvSpPr>
        <p:spPr>
          <a:xfrm>
            <a:off x="990600" y="1371600"/>
            <a:ext cx="7497763" cy="4800600"/>
          </a:xfrm>
        </p:spPr>
        <p:txBody>
          <a:bodyPr>
            <a:normAutofit/>
          </a:bodyPr>
          <a:lstStyle/>
          <a:p>
            <a:pPr marL="82296" indent="0" eaLnBrk="1" fontAlgn="auto" hangingPunct="1">
              <a:lnSpc>
                <a:spcPct val="90000"/>
              </a:lnSpc>
              <a:spcAft>
                <a:spcPts val="0"/>
              </a:spcAft>
              <a:buFont typeface="Wingdings 2"/>
              <a:buNone/>
              <a:defRPr/>
            </a:pPr>
            <a:r>
              <a:rPr lang="en-US" sz="2000" b="1" dirty="0"/>
              <a:t>A half adder requires the following:</a:t>
            </a:r>
          </a:p>
          <a:p>
            <a:pPr marL="640080" lvl="1" indent="-237744" eaLnBrk="1" fontAlgn="auto" hangingPunct="1">
              <a:lnSpc>
                <a:spcPct val="90000"/>
              </a:lnSpc>
              <a:spcAft>
                <a:spcPts val="0"/>
              </a:spcAft>
              <a:buFont typeface="Verdana"/>
              <a:buChar char="◦"/>
              <a:defRPr/>
            </a:pPr>
            <a:r>
              <a:rPr lang="en-US" sz="2000" b="1" dirty="0"/>
              <a:t>two binary inputs.</a:t>
            </a:r>
          </a:p>
          <a:p>
            <a:pPr marL="640080" lvl="1" indent="-237744" eaLnBrk="1" fontAlgn="auto" hangingPunct="1">
              <a:lnSpc>
                <a:spcPct val="90000"/>
              </a:lnSpc>
              <a:spcAft>
                <a:spcPts val="0"/>
              </a:spcAft>
              <a:buFont typeface="Verdana"/>
              <a:buChar char="◦"/>
              <a:defRPr/>
            </a:pPr>
            <a:r>
              <a:rPr lang="en-US" sz="2000" b="1" dirty="0"/>
              <a:t>two binary outputs.</a:t>
            </a:r>
          </a:p>
          <a:p>
            <a:pPr marL="365760" indent="-283464" eaLnBrk="1" fontAlgn="auto" hangingPunct="1">
              <a:lnSpc>
                <a:spcPct val="90000"/>
              </a:lnSpc>
              <a:spcAft>
                <a:spcPts val="0"/>
              </a:spcAft>
              <a:buFont typeface="Wingdings" pitchFamily="2" charset="2"/>
              <a:buNone/>
              <a:defRPr/>
            </a:pPr>
            <a:endParaRPr lang="en-US" sz="2000" b="1" dirty="0"/>
          </a:p>
          <a:p>
            <a:pPr marL="365760" indent="-283464" eaLnBrk="1" fontAlgn="auto" hangingPunct="1">
              <a:lnSpc>
                <a:spcPct val="90000"/>
              </a:lnSpc>
              <a:spcAft>
                <a:spcPts val="0"/>
              </a:spcAft>
              <a:buFont typeface="Wingdings" pitchFamily="2" charset="2"/>
              <a:buNone/>
              <a:defRPr/>
            </a:pPr>
            <a:endParaRPr lang="en-US" sz="2000" b="1" dirty="0"/>
          </a:p>
          <a:p>
            <a:pPr marL="365760" indent="-283464" eaLnBrk="1" fontAlgn="auto" hangingPunct="1">
              <a:lnSpc>
                <a:spcPct val="90000"/>
              </a:lnSpc>
              <a:spcAft>
                <a:spcPts val="0"/>
              </a:spcAft>
              <a:buFont typeface="Wingdings" pitchFamily="2" charset="2"/>
              <a:buNone/>
              <a:defRPr/>
            </a:pPr>
            <a:endParaRPr lang="en-US" sz="2000" b="1" dirty="0"/>
          </a:p>
          <a:p>
            <a:pPr marL="365760" indent="-283464" eaLnBrk="1" fontAlgn="auto" hangingPunct="1">
              <a:lnSpc>
                <a:spcPct val="90000"/>
              </a:lnSpc>
              <a:spcAft>
                <a:spcPts val="0"/>
              </a:spcAft>
              <a:buFont typeface="Wingdings" pitchFamily="2" charset="2"/>
              <a:buNone/>
              <a:defRPr/>
            </a:pPr>
            <a:endParaRPr lang="en-US" sz="2000" b="1" dirty="0"/>
          </a:p>
          <a:p>
            <a:pPr marL="365760" indent="-283464" eaLnBrk="1" fontAlgn="auto" hangingPunct="1">
              <a:lnSpc>
                <a:spcPct val="90000"/>
              </a:lnSpc>
              <a:spcAft>
                <a:spcPts val="0"/>
              </a:spcAft>
              <a:buFont typeface="Wingdings" pitchFamily="2" charset="2"/>
              <a:buNone/>
              <a:defRPr/>
            </a:pPr>
            <a:endParaRPr lang="en-US" sz="2000" b="1" dirty="0"/>
          </a:p>
          <a:p>
            <a:pPr marL="365760" indent="-283464" eaLnBrk="1" fontAlgn="auto" hangingPunct="1">
              <a:lnSpc>
                <a:spcPct val="90000"/>
              </a:lnSpc>
              <a:spcAft>
                <a:spcPts val="0"/>
              </a:spcAft>
              <a:buFont typeface="Wingdings" pitchFamily="2" charset="2"/>
              <a:buNone/>
              <a:defRPr/>
            </a:pPr>
            <a:r>
              <a:rPr lang="en-US" sz="2000" b="1" dirty="0"/>
              <a:t>					S = </a:t>
            </a:r>
            <a:r>
              <a:rPr lang="en-US" sz="2000" b="1" dirty="0" err="1"/>
              <a:t>x’y</a:t>
            </a:r>
            <a:r>
              <a:rPr lang="en-US" sz="2000" b="1" dirty="0"/>
              <a:t> + </a:t>
            </a:r>
            <a:r>
              <a:rPr lang="en-US" sz="2000" b="1" dirty="0" err="1"/>
              <a:t>xy</a:t>
            </a:r>
            <a:r>
              <a:rPr lang="en-US" sz="2000" b="1" dirty="0"/>
              <a:t>’</a:t>
            </a:r>
          </a:p>
          <a:p>
            <a:pPr marL="365760" indent="-283464" eaLnBrk="1" fontAlgn="auto" hangingPunct="1">
              <a:lnSpc>
                <a:spcPct val="90000"/>
              </a:lnSpc>
              <a:spcAft>
                <a:spcPts val="0"/>
              </a:spcAft>
              <a:buFont typeface="Wingdings" pitchFamily="2" charset="2"/>
              <a:buNone/>
              <a:defRPr/>
            </a:pPr>
            <a:r>
              <a:rPr lang="en-US" sz="2000" b="1" dirty="0"/>
              <a:t>					C = </a:t>
            </a:r>
            <a:r>
              <a:rPr lang="en-US" sz="2000" b="1" dirty="0" err="1"/>
              <a:t>xy</a:t>
            </a:r>
            <a:endParaRPr lang="en-US" sz="2000" b="1" dirty="0"/>
          </a:p>
        </p:txBody>
      </p:sp>
      <p:pic>
        <p:nvPicPr>
          <p:cNvPr id="32772" name="Picture 4" descr="halfAdderTruthTable">
            <a:extLst>
              <a:ext uri="{FF2B5EF4-FFF2-40B4-BE49-F238E27FC236}">
                <a16:creationId xmlns:a16="http://schemas.microsoft.com/office/drawing/2014/main" id="{EDE44591-2884-ABA6-FB5C-3F4C859FE5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4550" y="2438400"/>
            <a:ext cx="1952625"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70AED098-BF79-DB66-6145-839397B3ECFE}"/>
              </a:ext>
            </a:extLst>
          </p:cNvPr>
          <p:cNvSpPr>
            <a:spLocks noGrp="1" noChangeArrowheads="1"/>
          </p:cNvSpPr>
          <p:nvPr>
            <p:ph type="title"/>
          </p:nvPr>
        </p:nvSpPr>
        <p:spPr>
          <a:xfrm>
            <a:off x="990600" y="228600"/>
            <a:ext cx="7497763" cy="1143000"/>
          </a:xfrm>
        </p:spPr>
        <p:txBody>
          <a:bodyPr/>
          <a:lstStyle/>
          <a:p>
            <a:pPr eaLnBrk="1" fontAlgn="auto" hangingPunct="1">
              <a:spcAft>
                <a:spcPts val="0"/>
              </a:spcAft>
              <a:defRPr/>
            </a:pPr>
            <a:r>
              <a:rPr lang="en-US" dirty="0">
                <a:solidFill>
                  <a:schemeClr val="tx2">
                    <a:satMod val="130000"/>
                  </a:schemeClr>
                </a:solidFill>
              </a:rPr>
              <a:t>Half Adder Circuit</a:t>
            </a:r>
          </a:p>
        </p:txBody>
      </p:sp>
      <p:pic>
        <p:nvPicPr>
          <p:cNvPr id="33795" name="Picture 4" descr="HalfAdder">
            <a:extLst>
              <a:ext uri="{FF2B5EF4-FFF2-40B4-BE49-F238E27FC236}">
                <a16:creationId xmlns:a16="http://schemas.microsoft.com/office/drawing/2014/main" id="{6DFEAB17-6822-1018-A475-7A1A476949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295400"/>
            <a:ext cx="5972175" cy="4048125"/>
          </a:xfrm>
        </p:spPr>
      </p:pic>
      <p:sp>
        <p:nvSpPr>
          <p:cNvPr id="33796" name="Text Box 6">
            <a:extLst>
              <a:ext uri="{FF2B5EF4-FFF2-40B4-BE49-F238E27FC236}">
                <a16:creationId xmlns:a16="http://schemas.microsoft.com/office/drawing/2014/main" id="{8788B4BD-3C02-E2D7-D18C-837681AA37EE}"/>
              </a:ext>
            </a:extLst>
          </p:cNvPr>
          <p:cNvSpPr txBox="1">
            <a:spLocks noChangeArrowheads="1"/>
          </p:cNvSpPr>
          <p:nvPr/>
        </p:nvSpPr>
        <p:spPr bwMode="auto">
          <a:xfrm>
            <a:off x="3100388" y="3235325"/>
            <a:ext cx="15446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000" b="1">
                <a:latin typeface="Times New Roman" panose="02020603050405020304" pitchFamily="18" charset="0"/>
                <a:cs typeface="Times New Roman" panose="02020603050405020304" pitchFamily="18" charset="0"/>
              </a:rPr>
              <a:t>S = xy’ + x’y</a:t>
            </a:r>
          </a:p>
          <a:p>
            <a:pPr eaLnBrk="1" hangingPunct="1"/>
            <a:r>
              <a:rPr lang="en-US" altLang="en-US" sz="2000" b="1">
                <a:latin typeface="Times New Roman" panose="02020603050405020304" pitchFamily="18" charset="0"/>
                <a:cs typeface="Times New Roman" panose="02020603050405020304" pitchFamily="18" charset="0"/>
              </a:rPr>
              <a:t>C = xy</a:t>
            </a:r>
          </a:p>
        </p:txBody>
      </p:sp>
      <p:sp>
        <p:nvSpPr>
          <p:cNvPr id="33797" name="Text Box 7">
            <a:extLst>
              <a:ext uri="{FF2B5EF4-FFF2-40B4-BE49-F238E27FC236}">
                <a16:creationId xmlns:a16="http://schemas.microsoft.com/office/drawing/2014/main" id="{7F420D66-4DA2-D380-3641-B4CE4FC9E287}"/>
              </a:ext>
            </a:extLst>
          </p:cNvPr>
          <p:cNvSpPr txBox="1">
            <a:spLocks noChangeArrowheads="1"/>
          </p:cNvSpPr>
          <p:nvPr/>
        </p:nvSpPr>
        <p:spPr bwMode="auto">
          <a:xfrm>
            <a:off x="3124200" y="5562600"/>
            <a:ext cx="1520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000" b="1">
                <a:latin typeface="Times New Roman" panose="02020603050405020304" pitchFamily="18" charset="0"/>
                <a:cs typeface="Times New Roman" panose="02020603050405020304" pitchFamily="18" charset="0"/>
              </a:rPr>
              <a:t>S = x </a:t>
            </a:r>
            <a:r>
              <a:rPr lang="en-US" altLang="en-US" sz="2000" b="1">
                <a:latin typeface="Arial Unicode MS" pitchFamily="34" charset="-128"/>
                <a:ea typeface="Arial Unicode MS" pitchFamily="34" charset="-128"/>
              </a:rPr>
              <a:t>⊕</a:t>
            </a:r>
            <a:r>
              <a:rPr lang="en-US" altLang="en-US" sz="2000" b="1">
                <a:latin typeface="Times New Roman" panose="02020603050405020304" pitchFamily="18" charset="0"/>
                <a:cs typeface="Times New Roman" panose="02020603050405020304" pitchFamily="18" charset="0"/>
              </a:rPr>
              <a:t> y</a:t>
            </a:r>
          </a:p>
          <a:p>
            <a:pPr eaLnBrk="1" hangingPunct="1"/>
            <a:r>
              <a:rPr lang="en-US" altLang="en-US" sz="2000" b="1">
                <a:latin typeface="Times New Roman" panose="02020603050405020304" pitchFamily="18" charset="0"/>
                <a:cs typeface="Times New Roman" panose="02020603050405020304" pitchFamily="18" charset="0"/>
              </a:rPr>
              <a:t>C = xy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F5B4-320F-DE9D-CE20-108619B7DFF3}"/>
              </a:ext>
            </a:extLst>
          </p:cNvPr>
          <p:cNvSpPr>
            <a:spLocks noGrp="1"/>
          </p:cNvSpPr>
          <p:nvPr>
            <p:ph type="title"/>
          </p:nvPr>
        </p:nvSpPr>
        <p:spPr>
          <a:xfrm>
            <a:off x="990600" y="152400"/>
            <a:ext cx="7497763" cy="1143000"/>
          </a:xfrm>
        </p:spPr>
        <p:txBody>
          <a:bodyPr/>
          <a:lstStyle/>
          <a:p>
            <a:pPr eaLnBrk="1" fontAlgn="auto" hangingPunct="1">
              <a:spcAft>
                <a:spcPts val="0"/>
              </a:spcAft>
              <a:defRPr/>
            </a:pPr>
            <a:r>
              <a:rPr lang="en-US" dirty="0">
                <a:solidFill>
                  <a:schemeClr val="tx2">
                    <a:satMod val="130000"/>
                  </a:schemeClr>
                </a:solidFill>
              </a:rPr>
              <a:t>Full Adder</a:t>
            </a:r>
          </a:p>
        </p:txBody>
      </p:sp>
      <p:sp>
        <p:nvSpPr>
          <p:cNvPr id="3" name="Content Placeholder 2">
            <a:extLst>
              <a:ext uri="{FF2B5EF4-FFF2-40B4-BE49-F238E27FC236}">
                <a16:creationId xmlns:a16="http://schemas.microsoft.com/office/drawing/2014/main" id="{64EACE4A-A784-916E-2319-2ECE1666BAF9}"/>
              </a:ext>
            </a:extLst>
          </p:cNvPr>
          <p:cNvSpPr>
            <a:spLocks noGrp="1"/>
          </p:cNvSpPr>
          <p:nvPr>
            <p:ph idx="1"/>
          </p:nvPr>
        </p:nvSpPr>
        <p:spPr>
          <a:xfrm>
            <a:off x="990600" y="1295400"/>
            <a:ext cx="4343400" cy="5334000"/>
          </a:xfrm>
        </p:spPr>
        <p:txBody>
          <a:bodyPr>
            <a:normAutofit/>
          </a:bodyPr>
          <a:lstStyle/>
          <a:p>
            <a:pPr marL="82296" indent="0" eaLnBrk="1" fontAlgn="auto" hangingPunct="1">
              <a:spcAft>
                <a:spcPts val="0"/>
              </a:spcAft>
              <a:buFont typeface="Wingdings 2"/>
              <a:buNone/>
              <a:defRPr/>
            </a:pPr>
            <a:r>
              <a:rPr lang="en-US" sz="2200" b="1" dirty="0"/>
              <a:t>A </a:t>
            </a:r>
            <a:r>
              <a:rPr lang="en-US" sz="2200" b="1" dirty="0">
                <a:solidFill>
                  <a:srgbClr val="FF5050"/>
                </a:solidFill>
              </a:rPr>
              <a:t>full-adder </a:t>
            </a:r>
            <a:r>
              <a:rPr lang="en-US" sz="2200" b="1" dirty="0"/>
              <a:t>forms the sum of three bits</a:t>
            </a:r>
          </a:p>
          <a:p>
            <a:pPr marL="640080" lvl="1" indent="-237744" eaLnBrk="1" fontAlgn="auto" hangingPunct="1">
              <a:spcAft>
                <a:spcPts val="0"/>
              </a:spcAft>
              <a:buFont typeface="Verdana"/>
              <a:buChar char="◦"/>
              <a:defRPr/>
            </a:pPr>
            <a:r>
              <a:rPr lang="en-US" sz="2000" b="1" dirty="0"/>
              <a:t>Two inputs (x and y) represent the two significant bits to be added</a:t>
            </a:r>
          </a:p>
          <a:p>
            <a:pPr marL="640080" lvl="1" indent="-237744" eaLnBrk="1" fontAlgn="auto" hangingPunct="1">
              <a:spcAft>
                <a:spcPts val="0"/>
              </a:spcAft>
              <a:buFont typeface="Verdana"/>
              <a:buChar char="◦"/>
              <a:defRPr/>
            </a:pPr>
            <a:r>
              <a:rPr lang="en-US" sz="2000" b="1" dirty="0"/>
              <a:t>The third input (z) represents the carry from the previous lower significant position</a:t>
            </a:r>
          </a:p>
          <a:p>
            <a:pPr marL="640080" lvl="1" indent="-237744" eaLnBrk="1" fontAlgn="auto" hangingPunct="1">
              <a:spcAft>
                <a:spcPts val="0"/>
              </a:spcAft>
              <a:buFont typeface="Verdana"/>
              <a:buChar char="◦"/>
              <a:defRPr/>
            </a:pPr>
            <a:r>
              <a:rPr lang="en-US" sz="2000" b="1" dirty="0"/>
              <a:t>Two outputs are necessary because the sum ranges from 0 to 3</a:t>
            </a:r>
          </a:p>
          <a:p>
            <a:pPr marL="365760" indent="-283464" eaLnBrk="1" fontAlgn="auto" hangingPunct="1">
              <a:spcAft>
                <a:spcPts val="0"/>
              </a:spcAft>
              <a:buFont typeface="Wingdings 2"/>
              <a:buChar char=""/>
              <a:defRPr/>
            </a:pPr>
            <a:endParaRPr lang="en-US" dirty="0"/>
          </a:p>
        </p:txBody>
      </p:sp>
      <p:pic>
        <p:nvPicPr>
          <p:cNvPr id="34820" name="Picture 4" descr="fullAdderTruthTable">
            <a:extLst>
              <a:ext uri="{FF2B5EF4-FFF2-40B4-BE49-F238E27FC236}">
                <a16:creationId xmlns:a16="http://schemas.microsoft.com/office/drawing/2014/main" id="{60A7113A-1404-7616-CB08-D0BE870C0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8975" y="1447800"/>
            <a:ext cx="284162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a:extLst>
              <a:ext uri="{FF2B5EF4-FFF2-40B4-BE49-F238E27FC236}">
                <a16:creationId xmlns:a16="http://schemas.microsoft.com/office/drawing/2014/main" id="{487CC42D-549F-2E5C-0A78-06AE223CAC27}"/>
              </a:ext>
            </a:extLst>
          </p:cNvPr>
          <p:cNvSpPr txBox="1">
            <a:spLocks noChangeArrowheads="1"/>
          </p:cNvSpPr>
          <p:nvPr/>
        </p:nvSpPr>
        <p:spPr bwMode="auto">
          <a:xfrm>
            <a:off x="3527425" y="5521325"/>
            <a:ext cx="3382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000" b="1">
                <a:latin typeface="Times New Roman" panose="02020603050405020304" pitchFamily="18" charset="0"/>
                <a:cs typeface="Times New Roman" panose="02020603050405020304" pitchFamily="18" charset="0"/>
              </a:rPr>
              <a:t>S = x’y’z + x’yz’ + xy’z’ + xyz</a:t>
            </a:r>
          </a:p>
        </p:txBody>
      </p:sp>
      <p:sp>
        <p:nvSpPr>
          <p:cNvPr id="6" name="Text Box 6">
            <a:extLst>
              <a:ext uri="{FF2B5EF4-FFF2-40B4-BE49-F238E27FC236}">
                <a16:creationId xmlns:a16="http://schemas.microsoft.com/office/drawing/2014/main" id="{619F2D0C-5CFF-A382-38B5-967E8F8D60F9}"/>
              </a:ext>
            </a:extLst>
          </p:cNvPr>
          <p:cNvSpPr txBox="1">
            <a:spLocks noChangeArrowheads="1"/>
          </p:cNvSpPr>
          <p:nvPr/>
        </p:nvSpPr>
        <p:spPr bwMode="auto">
          <a:xfrm>
            <a:off x="3513138" y="5929313"/>
            <a:ext cx="1933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2000" b="1">
                <a:latin typeface="Times New Roman" panose="02020603050405020304" pitchFamily="18" charset="0"/>
                <a:cs typeface="Times New Roman" panose="02020603050405020304" pitchFamily="18" charset="0"/>
              </a:rPr>
              <a:t>C = xy + xz + yz</a:t>
            </a:r>
          </a:p>
          <a:p>
            <a:pPr eaLnBrk="1" hangingPunct="1"/>
            <a:endParaRPr lang="en-US" altLang="en-US" sz="20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FB695805-2719-9A11-E616-E45F5CE3D806}"/>
              </a:ext>
            </a:extLst>
          </p:cNvPr>
          <p:cNvSpPr>
            <a:spLocks noGrp="1" noChangeArrowheads="1"/>
          </p:cNvSpPr>
          <p:nvPr>
            <p:ph type="title"/>
          </p:nvPr>
        </p:nvSpPr>
        <p:spPr>
          <a:xfrm>
            <a:off x="990600" y="152400"/>
            <a:ext cx="7497763" cy="1143000"/>
          </a:xfrm>
        </p:spPr>
        <p:txBody>
          <a:bodyPr/>
          <a:lstStyle/>
          <a:p>
            <a:pPr eaLnBrk="1" fontAlgn="auto" hangingPunct="1">
              <a:spcAft>
                <a:spcPts val="0"/>
              </a:spcAft>
              <a:defRPr/>
            </a:pPr>
            <a:r>
              <a:rPr lang="en-US" dirty="0">
                <a:solidFill>
                  <a:schemeClr val="tx2">
                    <a:satMod val="130000"/>
                  </a:schemeClr>
                </a:solidFill>
              </a:rPr>
              <a:t>Full Adder (SOP)</a:t>
            </a:r>
          </a:p>
        </p:txBody>
      </p:sp>
      <p:pic>
        <p:nvPicPr>
          <p:cNvPr id="35843" name="Picture 7" descr="FullAdder">
            <a:extLst>
              <a:ext uri="{FF2B5EF4-FFF2-40B4-BE49-F238E27FC236}">
                <a16:creationId xmlns:a16="http://schemas.microsoft.com/office/drawing/2014/main" id="{DAF34BC0-7732-6A05-2870-AC3C775037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60500" y="1295400"/>
            <a:ext cx="6311900" cy="4548188"/>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E1A321A7-192B-E957-0A90-C1C81CDA7749}"/>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Binary Adder</a:t>
            </a:r>
          </a:p>
        </p:txBody>
      </p:sp>
      <p:sp>
        <p:nvSpPr>
          <p:cNvPr id="36867" name="Rectangle 3">
            <a:extLst>
              <a:ext uri="{FF2B5EF4-FFF2-40B4-BE49-F238E27FC236}">
                <a16:creationId xmlns:a16="http://schemas.microsoft.com/office/drawing/2014/main" id="{9B60A01A-B6AE-1775-2EE2-6413676692FF}"/>
              </a:ext>
            </a:extLst>
          </p:cNvPr>
          <p:cNvSpPr>
            <a:spLocks noGrp="1" noChangeArrowheads="1"/>
          </p:cNvSpPr>
          <p:nvPr>
            <p:ph type="body" idx="1"/>
          </p:nvPr>
        </p:nvSpPr>
        <p:spPr>
          <a:xfrm>
            <a:off x="990600" y="1447800"/>
            <a:ext cx="7497763" cy="4800600"/>
          </a:xfrm>
        </p:spPr>
        <p:txBody>
          <a:bodyPr/>
          <a:lstStyle/>
          <a:p>
            <a:pPr marL="80963" indent="0" eaLnBrk="1" hangingPunct="1">
              <a:buFont typeface="Wingdings 2" panose="05020102010507070707" pitchFamily="18" charset="2"/>
              <a:buNone/>
            </a:pPr>
            <a:r>
              <a:rPr lang="en-US" altLang="en-US" sz="2000" b="1"/>
              <a:t>A binary adder is a circuit that sums two binary numbers.</a:t>
            </a:r>
          </a:p>
          <a:p>
            <a:pPr lvl="1" eaLnBrk="1" hangingPunct="1"/>
            <a:r>
              <a:rPr lang="en-US" altLang="en-US" sz="2000" b="1"/>
              <a:t>It can be created with full adders connected in cascade, with the output carry from each full adder connected to the input carry of the next full adder in the chain.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CD86F084-687B-8E26-F5CF-4206754758C1}"/>
              </a:ext>
            </a:extLst>
          </p:cNvPr>
          <p:cNvSpPr>
            <a:spLocks noGrp="1" noChangeArrowheads="1"/>
          </p:cNvSpPr>
          <p:nvPr>
            <p:ph type="title"/>
          </p:nvPr>
        </p:nvSpPr>
        <p:spPr>
          <a:xfrm>
            <a:off x="990600" y="152400"/>
            <a:ext cx="7497763" cy="1143000"/>
          </a:xfrm>
        </p:spPr>
        <p:txBody>
          <a:bodyPr/>
          <a:lstStyle/>
          <a:p>
            <a:pPr eaLnBrk="1" fontAlgn="auto" hangingPunct="1">
              <a:spcAft>
                <a:spcPts val="0"/>
              </a:spcAft>
              <a:defRPr/>
            </a:pPr>
            <a:r>
              <a:rPr lang="en-US" dirty="0">
                <a:solidFill>
                  <a:schemeClr val="tx2">
                    <a:satMod val="130000"/>
                  </a:schemeClr>
                </a:solidFill>
              </a:rPr>
              <a:t>Binary Adder</a:t>
            </a:r>
          </a:p>
        </p:txBody>
      </p:sp>
      <p:pic>
        <p:nvPicPr>
          <p:cNvPr id="37891" name="Picture 4" descr="4BitAdder">
            <a:extLst>
              <a:ext uri="{FF2B5EF4-FFF2-40B4-BE49-F238E27FC236}">
                <a16:creationId xmlns:a16="http://schemas.microsoft.com/office/drawing/2014/main" id="{798073C7-634A-A2E7-E6C6-0502CDF2A9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60463" y="3276600"/>
            <a:ext cx="7221537" cy="2590800"/>
          </a:xfrm>
        </p:spPr>
      </p:pic>
      <p:pic>
        <p:nvPicPr>
          <p:cNvPr id="37892" name="Picture 6" descr="ExampleBinaryAdder">
            <a:extLst>
              <a:ext uri="{FF2B5EF4-FFF2-40B4-BE49-F238E27FC236}">
                <a16:creationId xmlns:a16="http://schemas.microsoft.com/office/drawing/2014/main" id="{31897753-353E-DF08-4AB5-65DECC0AE4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71600"/>
            <a:ext cx="5105400" cy="171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F7D1DFCE-FC65-5583-6133-25EDB6D117C9}"/>
              </a:ext>
            </a:extLst>
          </p:cNvPr>
          <p:cNvSpPr>
            <a:spLocks noGrp="1" noChangeArrowheads="1"/>
          </p:cNvSpPr>
          <p:nvPr>
            <p:ph type="title"/>
          </p:nvPr>
        </p:nvSpPr>
        <p:spPr>
          <a:xfrm>
            <a:off x="990600" y="228600"/>
            <a:ext cx="6934200" cy="920750"/>
          </a:xfrm>
        </p:spPr>
        <p:txBody>
          <a:bodyPr/>
          <a:lstStyle/>
          <a:p>
            <a:pPr eaLnBrk="1" fontAlgn="auto" hangingPunct="1">
              <a:spcAft>
                <a:spcPts val="0"/>
              </a:spcAft>
              <a:defRPr/>
            </a:pPr>
            <a:r>
              <a:rPr lang="en-US" dirty="0">
                <a:solidFill>
                  <a:schemeClr val="tx2">
                    <a:satMod val="130000"/>
                  </a:schemeClr>
                </a:solidFill>
              </a:rPr>
              <a:t>Binary </a:t>
            </a:r>
            <a:r>
              <a:rPr lang="en-US" dirty="0" err="1">
                <a:solidFill>
                  <a:schemeClr val="tx2">
                    <a:satMod val="130000"/>
                  </a:schemeClr>
                </a:solidFill>
              </a:rPr>
              <a:t>Subtractor</a:t>
            </a:r>
            <a:endParaRPr lang="en-US" dirty="0">
              <a:solidFill>
                <a:schemeClr val="tx2">
                  <a:satMod val="130000"/>
                </a:schemeClr>
              </a:solidFill>
            </a:endParaRPr>
          </a:p>
        </p:txBody>
      </p:sp>
      <p:sp>
        <p:nvSpPr>
          <p:cNvPr id="38915" name="Rectangle 3">
            <a:extLst>
              <a:ext uri="{FF2B5EF4-FFF2-40B4-BE49-F238E27FC236}">
                <a16:creationId xmlns:a16="http://schemas.microsoft.com/office/drawing/2014/main" id="{91D9C331-A709-9DFF-5B9F-4A587F791F4D}"/>
              </a:ext>
            </a:extLst>
          </p:cNvPr>
          <p:cNvSpPr>
            <a:spLocks noGrp="1" noChangeArrowheads="1"/>
          </p:cNvSpPr>
          <p:nvPr>
            <p:ph type="body" idx="1"/>
          </p:nvPr>
        </p:nvSpPr>
        <p:spPr>
          <a:xfrm>
            <a:off x="990600" y="1219200"/>
            <a:ext cx="7696200" cy="5037138"/>
          </a:xfrm>
        </p:spPr>
        <p:txBody>
          <a:bodyPr/>
          <a:lstStyle/>
          <a:p>
            <a:pPr eaLnBrk="1" hangingPunct="1">
              <a:lnSpc>
                <a:spcPct val="90000"/>
              </a:lnSpc>
              <a:buClr>
                <a:schemeClr val="tx2"/>
              </a:buClr>
            </a:pPr>
            <a:r>
              <a:rPr lang="en-US" altLang="en-US" sz="2000" b="1"/>
              <a:t>The subtraction of unsigned binary numbers can be done by means of complements.</a:t>
            </a:r>
          </a:p>
          <a:p>
            <a:pPr lvl="1" eaLnBrk="1" hangingPunct="1">
              <a:lnSpc>
                <a:spcPct val="90000"/>
              </a:lnSpc>
            </a:pPr>
            <a:r>
              <a:rPr lang="en-US" altLang="en-US" sz="2000" b="1"/>
              <a:t>The circuit for subtracting A – B consists of an adder with inverters placed between each data input B and the corresponding input of the full adder.</a:t>
            </a:r>
          </a:p>
          <a:p>
            <a:pPr lvl="1" eaLnBrk="1" hangingPunct="1">
              <a:lnSpc>
                <a:spcPct val="90000"/>
              </a:lnSpc>
            </a:pPr>
            <a:r>
              <a:rPr lang="en-US" altLang="en-US" sz="2000" b="1"/>
              <a:t>The input carry C</a:t>
            </a:r>
            <a:r>
              <a:rPr lang="en-US" altLang="en-US" sz="2000" b="1" baseline="-25000"/>
              <a:t>0</a:t>
            </a:r>
            <a:r>
              <a:rPr lang="en-US" altLang="en-US" sz="2000" b="1"/>
              <a:t> must be 1 when performing subtraction.</a:t>
            </a:r>
          </a:p>
          <a:p>
            <a:pPr lvl="1" eaLnBrk="1" hangingPunct="1">
              <a:lnSpc>
                <a:spcPct val="90000"/>
              </a:lnSpc>
            </a:pPr>
            <a:r>
              <a:rPr lang="en-US" altLang="en-US" sz="2000" b="1"/>
              <a:t>This performs the operation of A plus the 1’s complement of B plus 1.</a:t>
            </a:r>
          </a:p>
          <a:p>
            <a:pPr lvl="1" eaLnBrk="1" hangingPunct="1">
              <a:lnSpc>
                <a:spcPct val="90000"/>
              </a:lnSpc>
            </a:pPr>
            <a:r>
              <a:rPr lang="en-US" altLang="en-US" sz="2000" b="1"/>
              <a:t>A – B if A &gt;= B.</a:t>
            </a:r>
          </a:p>
          <a:p>
            <a:pPr lvl="1" eaLnBrk="1" hangingPunct="1">
              <a:lnSpc>
                <a:spcPct val="90000"/>
              </a:lnSpc>
            </a:pPr>
            <a:r>
              <a:rPr lang="en-US" altLang="en-US" sz="2000" b="1"/>
              <a:t>2’s complement of (B – A) if A &lt; B.</a:t>
            </a:r>
          </a:p>
          <a:p>
            <a:pPr eaLnBrk="1" hangingPunct="1">
              <a:lnSpc>
                <a:spcPct val="90000"/>
              </a:lnSpc>
              <a:buClr>
                <a:schemeClr val="tx2"/>
              </a:buClr>
            </a:pPr>
            <a:r>
              <a:rPr lang="en-US" altLang="en-US" sz="2000" b="1"/>
              <a:t>The same circuit can be used for signed numbers provided that there is no overflow.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3964-C3D4-A378-8E91-A6B63F236FBD}"/>
              </a:ext>
            </a:extLst>
          </p:cNvPr>
          <p:cNvSpPr>
            <a:spLocks noGrp="1"/>
          </p:cNvSpPr>
          <p:nvPr>
            <p:ph type="title"/>
          </p:nvPr>
        </p:nvSpPr>
        <p:spPr>
          <a:xfrm>
            <a:off x="990600" y="152400"/>
            <a:ext cx="7497763" cy="1143000"/>
          </a:xfrm>
        </p:spPr>
        <p:txBody>
          <a:bodyPr/>
          <a:lstStyle/>
          <a:p>
            <a:pPr eaLnBrk="1" fontAlgn="auto" hangingPunct="1">
              <a:spcAft>
                <a:spcPts val="0"/>
              </a:spcAft>
              <a:defRPr/>
            </a:pPr>
            <a:r>
              <a:rPr lang="en-US" dirty="0">
                <a:solidFill>
                  <a:schemeClr val="tx2">
                    <a:satMod val="130000"/>
                  </a:schemeClr>
                </a:solidFill>
              </a:rPr>
              <a:t>Binary </a:t>
            </a:r>
            <a:r>
              <a:rPr lang="en-US" dirty="0" err="1">
                <a:solidFill>
                  <a:schemeClr val="tx2">
                    <a:satMod val="130000"/>
                  </a:schemeClr>
                </a:solidFill>
              </a:rPr>
              <a:t>Subtractor</a:t>
            </a:r>
            <a:endParaRPr lang="en-US" dirty="0">
              <a:solidFill>
                <a:schemeClr val="tx2">
                  <a:satMod val="130000"/>
                </a:schemeClr>
              </a:solidFill>
            </a:endParaRPr>
          </a:p>
        </p:txBody>
      </p:sp>
      <p:grpSp>
        <p:nvGrpSpPr>
          <p:cNvPr id="39939" name="Group 1044">
            <a:extLst>
              <a:ext uri="{FF2B5EF4-FFF2-40B4-BE49-F238E27FC236}">
                <a16:creationId xmlns:a16="http://schemas.microsoft.com/office/drawing/2014/main" id="{C23E8985-93D0-A8DE-67DA-3020FE41D8C5}"/>
              </a:ext>
            </a:extLst>
          </p:cNvPr>
          <p:cNvGrpSpPr>
            <a:grpSpLocks/>
          </p:cNvGrpSpPr>
          <p:nvPr/>
        </p:nvGrpSpPr>
        <p:grpSpPr bwMode="auto">
          <a:xfrm>
            <a:off x="1143000" y="1447800"/>
            <a:ext cx="7848600" cy="3505200"/>
            <a:chOff x="438" y="2112"/>
            <a:chExt cx="4727" cy="1434"/>
          </a:xfrm>
        </p:grpSpPr>
        <p:pic>
          <p:nvPicPr>
            <p:cNvPr id="39940" name="Picture 1027" descr="4BitAdder">
              <a:extLst>
                <a:ext uri="{FF2B5EF4-FFF2-40B4-BE49-F238E27FC236}">
                  <a16:creationId xmlns:a16="http://schemas.microsoft.com/office/drawing/2014/main" id="{E2CA45FC-88D0-F21D-6543-C6C997F73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 y="2112"/>
              <a:ext cx="4727" cy="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1035" descr="inverter">
              <a:extLst>
                <a:ext uri="{FF2B5EF4-FFF2-40B4-BE49-F238E27FC236}">
                  <a16:creationId xmlns:a16="http://schemas.microsoft.com/office/drawing/2014/main" id="{7AAFA88A-4DB4-960E-D460-D0CD4BED0C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5" y="2405"/>
              <a:ext cx="186"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1039" descr="inverter">
              <a:extLst>
                <a:ext uri="{FF2B5EF4-FFF2-40B4-BE49-F238E27FC236}">
                  <a16:creationId xmlns:a16="http://schemas.microsoft.com/office/drawing/2014/main" id="{9E7FE735-80BB-9D86-49E6-72FBAF2C4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5" y="2409"/>
              <a:ext cx="16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1029" descr="inverter">
              <a:extLst>
                <a:ext uri="{FF2B5EF4-FFF2-40B4-BE49-F238E27FC236}">
                  <a16:creationId xmlns:a16="http://schemas.microsoft.com/office/drawing/2014/main" id="{04685710-47F3-A28B-EFB2-D6E46E63F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 y="2409"/>
              <a:ext cx="17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1041" descr="inverter">
              <a:extLst>
                <a:ext uri="{FF2B5EF4-FFF2-40B4-BE49-F238E27FC236}">
                  <a16:creationId xmlns:a16="http://schemas.microsoft.com/office/drawing/2014/main" id="{FB397DEB-5785-C55F-8D68-B5C2FDC471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 y="2403"/>
              <a:ext cx="17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Text Box 1043">
              <a:extLst>
                <a:ext uri="{FF2B5EF4-FFF2-40B4-BE49-F238E27FC236}">
                  <a16:creationId xmlns:a16="http://schemas.microsoft.com/office/drawing/2014/main" id="{9A0FE927-780E-1F6D-8559-E4162C21A48A}"/>
                </a:ext>
              </a:extLst>
            </p:cNvPr>
            <p:cNvSpPr txBox="1">
              <a:spLocks noChangeArrowheads="1"/>
            </p:cNvSpPr>
            <p:nvPr/>
          </p:nvSpPr>
          <p:spPr bwMode="auto">
            <a:xfrm>
              <a:off x="4632" y="3025"/>
              <a:ext cx="385"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400">
                  <a:latin typeface="Times New Roman" panose="02020603050405020304" pitchFamily="18" charset="0"/>
                  <a:cs typeface="Times New Roman" panose="02020603050405020304" pitchFamily="18" charset="0"/>
                </a:rPr>
                <a:t>C</a:t>
              </a:r>
              <a:r>
                <a:rPr lang="en-US" altLang="en-US" sz="1400" baseline="-25000">
                  <a:latin typeface="Times New Roman" panose="02020603050405020304" pitchFamily="18" charset="0"/>
                  <a:cs typeface="Times New Roman" panose="02020603050405020304" pitchFamily="18" charset="0"/>
                </a:rPr>
                <a:t>0</a:t>
              </a:r>
              <a:r>
                <a:rPr lang="en-US" altLang="en-US" sz="1400">
                  <a:latin typeface="Times New Roman" panose="02020603050405020304" pitchFamily="18" charset="0"/>
                  <a:cs typeface="Times New Roman" panose="02020603050405020304" pitchFamily="18" charset="0"/>
                </a:rPr>
                <a:t> = 1</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E67119D9-C042-5724-CADC-721B7C3A3E7D}"/>
              </a:ext>
            </a:extLst>
          </p:cNvPr>
          <p:cNvSpPr>
            <a:spLocks noGrp="1" noChangeArrowheads="1"/>
          </p:cNvSpPr>
          <p:nvPr>
            <p:ph type="title"/>
          </p:nvPr>
        </p:nvSpPr>
        <p:spPr>
          <a:xfrm>
            <a:off x="990600" y="228600"/>
            <a:ext cx="7497763" cy="1143000"/>
          </a:xfrm>
        </p:spPr>
        <p:txBody>
          <a:bodyPr/>
          <a:lstStyle/>
          <a:p>
            <a:pPr eaLnBrk="1" fontAlgn="auto" hangingPunct="1">
              <a:spcAft>
                <a:spcPts val="0"/>
              </a:spcAft>
              <a:defRPr/>
            </a:pPr>
            <a:r>
              <a:rPr lang="en-US" dirty="0">
                <a:solidFill>
                  <a:schemeClr val="tx2">
                    <a:satMod val="130000"/>
                  </a:schemeClr>
                </a:solidFill>
              </a:rPr>
              <a:t>Adder </a:t>
            </a:r>
            <a:r>
              <a:rPr lang="en-US" dirty="0" err="1">
                <a:solidFill>
                  <a:schemeClr val="tx2">
                    <a:satMod val="130000"/>
                  </a:schemeClr>
                </a:solidFill>
              </a:rPr>
              <a:t>Subtractor</a:t>
            </a:r>
            <a:endParaRPr lang="en-US" dirty="0">
              <a:solidFill>
                <a:schemeClr val="tx2">
                  <a:satMod val="130000"/>
                </a:schemeClr>
              </a:solidFill>
            </a:endParaRPr>
          </a:p>
        </p:txBody>
      </p:sp>
      <p:sp>
        <p:nvSpPr>
          <p:cNvPr id="40963" name="Rectangle 3">
            <a:extLst>
              <a:ext uri="{FF2B5EF4-FFF2-40B4-BE49-F238E27FC236}">
                <a16:creationId xmlns:a16="http://schemas.microsoft.com/office/drawing/2014/main" id="{CA31A2E7-42A1-1013-2219-1C7D5E968181}"/>
              </a:ext>
            </a:extLst>
          </p:cNvPr>
          <p:cNvSpPr>
            <a:spLocks noGrp="1" noChangeArrowheads="1"/>
          </p:cNvSpPr>
          <p:nvPr>
            <p:ph type="body" idx="1"/>
          </p:nvPr>
        </p:nvSpPr>
        <p:spPr>
          <a:xfrm>
            <a:off x="990600" y="1295400"/>
            <a:ext cx="7848600" cy="1828800"/>
          </a:xfrm>
        </p:spPr>
        <p:txBody>
          <a:bodyPr/>
          <a:lstStyle/>
          <a:p>
            <a:pPr eaLnBrk="1" hangingPunct="1">
              <a:buClr>
                <a:schemeClr val="tx2"/>
              </a:buClr>
            </a:pPr>
            <a:r>
              <a:rPr lang="en-US" altLang="en-US" sz="2000" b="1"/>
              <a:t>The addition and subtraction operations can be combined into one circuit with one common binary adder.</a:t>
            </a:r>
          </a:p>
          <a:p>
            <a:pPr lvl="1" eaLnBrk="1" hangingPunct="1"/>
            <a:r>
              <a:rPr lang="en-US" altLang="en-US" sz="2000" b="1"/>
              <a:t>This is done by including an exclusive-OR gate with each full adder.</a:t>
            </a:r>
          </a:p>
        </p:txBody>
      </p:sp>
      <p:grpSp>
        <p:nvGrpSpPr>
          <p:cNvPr id="40964" name="Group 8">
            <a:extLst>
              <a:ext uri="{FF2B5EF4-FFF2-40B4-BE49-F238E27FC236}">
                <a16:creationId xmlns:a16="http://schemas.microsoft.com/office/drawing/2014/main" id="{A04CB0A5-DF0F-5942-C8EA-0216F8EFB296}"/>
              </a:ext>
            </a:extLst>
          </p:cNvPr>
          <p:cNvGrpSpPr>
            <a:grpSpLocks/>
          </p:cNvGrpSpPr>
          <p:nvPr/>
        </p:nvGrpSpPr>
        <p:grpSpPr bwMode="auto">
          <a:xfrm>
            <a:off x="1447800" y="2819400"/>
            <a:ext cx="6705600" cy="3159125"/>
            <a:chOff x="1182" y="1908"/>
            <a:chExt cx="3119" cy="1666"/>
          </a:xfrm>
        </p:grpSpPr>
        <p:pic>
          <p:nvPicPr>
            <p:cNvPr id="40965" name="Picture 4" descr="4BitAdderSubtractor">
              <a:extLst>
                <a:ext uri="{FF2B5EF4-FFF2-40B4-BE49-F238E27FC236}">
                  <a16:creationId xmlns:a16="http://schemas.microsoft.com/office/drawing/2014/main" id="{98A9EABA-201F-7CDE-669C-6EA85B3AC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 y="1908"/>
              <a:ext cx="3119" cy="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Rectangle 6">
              <a:extLst>
                <a:ext uri="{FF2B5EF4-FFF2-40B4-BE49-F238E27FC236}">
                  <a16:creationId xmlns:a16="http://schemas.microsoft.com/office/drawing/2014/main" id="{D6C2CFEC-996D-76CF-8767-21FCA56D6F48}"/>
                </a:ext>
              </a:extLst>
            </p:cNvPr>
            <p:cNvSpPr>
              <a:spLocks noChangeArrowheads="1"/>
            </p:cNvSpPr>
            <p:nvPr/>
          </p:nvSpPr>
          <p:spPr bwMode="auto">
            <a:xfrm>
              <a:off x="4140" y="2220"/>
              <a:ext cx="108" cy="144"/>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200"/>
                <a:t>M</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6FA2654E-87FF-9A0D-A05A-19290D180A58}"/>
              </a:ext>
            </a:extLst>
          </p:cNvPr>
          <p:cNvSpPr>
            <a:spLocks noGrp="1" noChangeArrowheads="1"/>
          </p:cNvSpPr>
          <p:nvPr>
            <p:ph type="title"/>
          </p:nvPr>
        </p:nvSpPr>
        <p:spPr>
          <a:xfrm>
            <a:off x="990600" y="228600"/>
            <a:ext cx="7497763" cy="1143000"/>
          </a:xfrm>
        </p:spPr>
        <p:txBody>
          <a:bodyPr/>
          <a:lstStyle/>
          <a:p>
            <a:pPr eaLnBrk="1" fontAlgn="auto" hangingPunct="1">
              <a:spcAft>
                <a:spcPts val="0"/>
              </a:spcAft>
              <a:defRPr/>
            </a:pPr>
            <a:r>
              <a:rPr lang="en-US" dirty="0">
                <a:solidFill>
                  <a:schemeClr val="tx2">
                    <a:satMod val="130000"/>
                  </a:schemeClr>
                </a:solidFill>
              </a:rPr>
              <a:t>Overflow</a:t>
            </a:r>
          </a:p>
        </p:txBody>
      </p:sp>
      <p:sp>
        <p:nvSpPr>
          <p:cNvPr id="41987" name="Rectangle 3">
            <a:extLst>
              <a:ext uri="{FF2B5EF4-FFF2-40B4-BE49-F238E27FC236}">
                <a16:creationId xmlns:a16="http://schemas.microsoft.com/office/drawing/2014/main" id="{DE17696A-46D8-89AA-6C4F-A5B9B2F8BC4F}"/>
              </a:ext>
            </a:extLst>
          </p:cNvPr>
          <p:cNvSpPr>
            <a:spLocks noGrp="1" noChangeArrowheads="1"/>
          </p:cNvSpPr>
          <p:nvPr>
            <p:ph type="body" idx="1"/>
          </p:nvPr>
        </p:nvSpPr>
        <p:spPr>
          <a:xfrm>
            <a:off x="990600" y="1219200"/>
            <a:ext cx="7924800" cy="5029200"/>
          </a:xfrm>
        </p:spPr>
        <p:txBody>
          <a:bodyPr/>
          <a:lstStyle/>
          <a:p>
            <a:pPr eaLnBrk="1" hangingPunct="1">
              <a:buClr>
                <a:schemeClr val="tx2"/>
              </a:buClr>
            </a:pPr>
            <a:r>
              <a:rPr lang="en-US" altLang="en-US" sz="2000" b="1"/>
              <a:t>Overflow occurs when two numbers of </a:t>
            </a:r>
            <a:r>
              <a:rPr lang="en-US" altLang="en-US" sz="2000" b="1" i="1"/>
              <a:t>n</a:t>
            </a:r>
            <a:r>
              <a:rPr lang="en-US" altLang="en-US" sz="2000" b="1"/>
              <a:t> digits each are added and the sum occupies </a:t>
            </a:r>
            <a:r>
              <a:rPr lang="en-US" altLang="en-US" sz="2000" b="1" i="1"/>
              <a:t>n</a:t>
            </a:r>
            <a:r>
              <a:rPr lang="en-US" altLang="en-US" sz="2000" b="1"/>
              <a:t> + 1 digits.</a:t>
            </a:r>
          </a:p>
          <a:p>
            <a:pPr lvl="1" eaLnBrk="1" hangingPunct="1"/>
            <a:r>
              <a:rPr lang="en-US" altLang="en-US" sz="2000" b="1"/>
              <a:t>In digital computers, we are limited in size by the outputs.</a:t>
            </a:r>
          </a:p>
          <a:p>
            <a:pPr eaLnBrk="1" hangingPunct="1">
              <a:buClr>
                <a:schemeClr val="tx2"/>
              </a:buClr>
            </a:pPr>
            <a:r>
              <a:rPr lang="en-US" altLang="en-US" sz="2000" b="1"/>
              <a:t>The detection of an overflow after the addition of two binary numbers depends on whether the numbers are considered to be signed or unsigned.</a:t>
            </a:r>
          </a:p>
          <a:p>
            <a:pPr lvl="1" eaLnBrk="1" hangingPunct="1"/>
            <a:r>
              <a:rPr lang="en-US" altLang="en-US" sz="2000" b="1"/>
              <a:t>When two unsigned numbers are added, an overflow is detected from the end carry out of the most significant position.</a:t>
            </a:r>
          </a:p>
          <a:p>
            <a:pPr lvl="1" eaLnBrk="1" hangingPunct="1"/>
            <a:r>
              <a:rPr lang="en-US" altLang="en-US" sz="2000" b="1"/>
              <a:t>When two signed numbers are added, the leftmost bit always represents the sign and negative numbers are in 2’s complement form.  Thus the sign bit is treated as part of the number and the end carry does not indicate an overflow.</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52DE8DC5-AC5B-AE0E-38BA-E8E6418CCF50}"/>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Decoders</a:t>
            </a:r>
          </a:p>
        </p:txBody>
      </p:sp>
      <p:sp>
        <p:nvSpPr>
          <p:cNvPr id="22532" name="Rectangle 3">
            <a:extLst>
              <a:ext uri="{FF2B5EF4-FFF2-40B4-BE49-F238E27FC236}">
                <a16:creationId xmlns:a16="http://schemas.microsoft.com/office/drawing/2014/main" id="{EB9376F2-48AC-09A8-0FCA-AD8F45D7C127}"/>
              </a:ext>
            </a:extLst>
          </p:cNvPr>
          <p:cNvSpPr>
            <a:spLocks noGrp="1" noChangeArrowheads="1"/>
          </p:cNvSpPr>
          <p:nvPr>
            <p:ph type="body" idx="1"/>
          </p:nvPr>
        </p:nvSpPr>
        <p:spPr>
          <a:xfrm>
            <a:off x="990600" y="1600200"/>
            <a:ext cx="7772400" cy="2133600"/>
          </a:xfrm>
        </p:spPr>
        <p:txBody>
          <a:bodyPr>
            <a:normAutofit/>
          </a:bodyPr>
          <a:lstStyle/>
          <a:p>
            <a:pPr marL="365760" indent="-283464" eaLnBrk="1" fontAlgn="auto" hangingPunct="1">
              <a:spcAft>
                <a:spcPts val="0"/>
              </a:spcAft>
              <a:buClr>
                <a:schemeClr val="tx2"/>
              </a:buClr>
              <a:buFont typeface="Wingdings 2"/>
              <a:buChar char=""/>
              <a:defRPr/>
            </a:pPr>
            <a:r>
              <a:rPr lang="en-US" sz="2000" b="1" dirty="0"/>
              <a:t>A </a:t>
            </a:r>
            <a:r>
              <a:rPr lang="en-US" sz="2000" b="1" dirty="0">
                <a:solidFill>
                  <a:srgbClr val="FF5050"/>
                </a:solidFill>
              </a:rPr>
              <a:t>decoder</a:t>
            </a:r>
            <a:r>
              <a:rPr lang="en-US" sz="2000" b="1" dirty="0"/>
              <a:t> is a circuit that converts binary information from n input lines to a maximum of 2</a:t>
            </a:r>
            <a:r>
              <a:rPr lang="en-US" sz="2000" b="1" baseline="30000" dirty="0"/>
              <a:t>n</a:t>
            </a:r>
            <a:r>
              <a:rPr lang="en-US" sz="2000" b="1" dirty="0"/>
              <a:t> unique output lines.</a:t>
            </a:r>
          </a:p>
          <a:p>
            <a:pPr marL="82296" indent="0" eaLnBrk="1" fontAlgn="auto" hangingPunct="1">
              <a:spcAft>
                <a:spcPts val="0"/>
              </a:spcAft>
              <a:buClr>
                <a:schemeClr val="tx2"/>
              </a:buClr>
              <a:buFont typeface="Wingdings 2"/>
              <a:buNone/>
              <a:defRPr/>
            </a:pPr>
            <a:endParaRPr lang="en-US" sz="2000" b="1" dirty="0"/>
          </a:p>
          <a:p>
            <a:pPr marL="640080" lvl="1" indent="-237744" eaLnBrk="1" fontAlgn="auto" hangingPunct="1">
              <a:spcAft>
                <a:spcPts val="0"/>
              </a:spcAft>
              <a:buFont typeface="Verdana"/>
              <a:buChar char="◦"/>
              <a:defRPr/>
            </a:pPr>
            <a:r>
              <a:rPr lang="en-US" sz="2000" b="1" dirty="0"/>
              <a:t>If the n-bit coded information has unused combinations, the decoder may have fewer than 2</a:t>
            </a:r>
            <a:r>
              <a:rPr lang="en-US" sz="2000" b="1" baseline="30000" dirty="0"/>
              <a:t>n</a:t>
            </a:r>
            <a:r>
              <a:rPr lang="en-US" sz="2000" b="1" dirty="0"/>
              <a:t> outputs.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FA3E41F5-430F-F4F2-7FFA-025755B9536D}"/>
              </a:ext>
            </a:extLst>
          </p:cNvPr>
          <p:cNvSpPr>
            <a:spLocks noGrp="1" noChangeArrowheads="1"/>
          </p:cNvSpPr>
          <p:nvPr>
            <p:ph type="title"/>
          </p:nvPr>
        </p:nvSpPr>
        <p:spPr>
          <a:xfrm>
            <a:off x="990600" y="304800"/>
            <a:ext cx="7497763" cy="1143000"/>
          </a:xfrm>
        </p:spPr>
        <p:txBody>
          <a:bodyPr/>
          <a:lstStyle/>
          <a:p>
            <a:pPr eaLnBrk="1" fontAlgn="auto" hangingPunct="1">
              <a:spcAft>
                <a:spcPts val="0"/>
              </a:spcAft>
              <a:defRPr/>
            </a:pPr>
            <a:r>
              <a:rPr lang="en-US" dirty="0">
                <a:solidFill>
                  <a:schemeClr val="tx2">
                    <a:satMod val="130000"/>
                  </a:schemeClr>
                </a:solidFill>
              </a:rPr>
              <a:t>3-to-8 Line Decoder</a:t>
            </a:r>
          </a:p>
        </p:txBody>
      </p:sp>
      <p:grpSp>
        <p:nvGrpSpPr>
          <p:cNvPr id="44035" name="Group 18">
            <a:extLst>
              <a:ext uri="{FF2B5EF4-FFF2-40B4-BE49-F238E27FC236}">
                <a16:creationId xmlns:a16="http://schemas.microsoft.com/office/drawing/2014/main" id="{CBDF4560-AF57-4DDE-829C-AE4EC53F7F02}"/>
              </a:ext>
            </a:extLst>
          </p:cNvPr>
          <p:cNvGrpSpPr>
            <a:grpSpLocks/>
          </p:cNvGrpSpPr>
          <p:nvPr/>
        </p:nvGrpSpPr>
        <p:grpSpPr bwMode="auto">
          <a:xfrm>
            <a:off x="1633538" y="1295400"/>
            <a:ext cx="6215062" cy="4618038"/>
            <a:chOff x="1029" y="1071"/>
            <a:chExt cx="3384" cy="2909"/>
          </a:xfrm>
        </p:grpSpPr>
        <p:pic>
          <p:nvPicPr>
            <p:cNvPr id="44036" name="Picture 4" descr="3to8linedecoder">
              <a:extLst>
                <a:ext uri="{FF2B5EF4-FFF2-40B4-BE49-F238E27FC236}">
                  <a16:creationId xmlns:a16="http://schemas.microsoft.com/office/drawing/2014/main" id="{E272BA8F-EAF3-4134-1077-E3F2A78C66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 y="1071"/>
              <a:ext cx="3384" cy="2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 Box 6">
              <a:extLst>
                <a:ext uri="{FF2B5EF4-FFF2-40B4-BE49-F238E27FC236}">
                  <a16:creationId xmlns:a16="http://schemas.microsoft.com/office/drawing/2014/main" id="{D6897E45-833C-D52A-349B-5A46891FBF5E}"/>
                </a:ext>
              </a:extLst>
            </p:cNvPr>
            <p:cNvSpPr txBox="1">
              <a:spLocks noChangeArrowheads="1"/>
            </p:cNvSpPr>
            <p:nvPr/>
          </p:nvSpPr>
          <p:spPr bwMode="auto">
            <a:xfrm>
              <a:off x="1126" y="1803"/>
              <a:ext cx="173"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z</a:t>
              </a:r>
            </a:p>
          </p:txBody>
        </p:sp>
        <p:sp>
          <p:nvSpPr>
            <p:cNvPr id="44038" name="Text Box 7">
              <a:extLst>
                <a:ext uri="{FF2B5EF4-FFF2-40B4-BE49-F238E27FC236}">
                  <a16:creationId xmlns:a16="http://schemas.microsoft.com/office/drawing/2014/main" id="{E8189B9B-ED9A-9D79-296D-0497D9E2531C}"/>
                </a:ext>
              </a:extLst>
            </p:cNvPr>
            <p:cNvSpPr txBox="1">
              <a:spLocks noChangeArrowheads="1"/>
            </p:cNvSpPr>
            <p:nvPr/>
          </p:nvSpPr>
          <p:spPr bwMode="auto">
            <a:xfrm>
              <a:off x="1134" y="2229"/>
              <a:ext cx="180"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y</a:t>
              </a:r>
            </a:p>
          </p:txBody>
        </p:sp>
        <p:sp>
          <p:nvSpPr>
            <p:cNvPr id="44039" name="Text Box 8">
              <a:extLst>
                <a:ext uri="{FF2B5EF4-FFF2-40B4-BE49-F238E27FC236}">
                  <a16:creationId xmlns:a16="http://schemas.microsoft.com/office/drawing/2014/main" id="{BE031AD3-39A1-0782-A3BB-B0C2881377C0}"/>
                </a:ext>
              </a:extLst>
            </p:cNvPr>
            <p:cNvSpPr txBox="1">
              <a:spLocks noChangeArrowheads="1"/>
            </p:cNvSpPr>
            <p:nvPr/>
          </p:nvSpPr>
          <p:spPr bwMode="auto">
            <a:xfrm>
              <a:off x="1134" y="2691"/>
              <a:ext cx="180"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a:t>
              </a:r>
            </a:p>
          </p:txBody>
        </p:sp>
        <p:sp>
          <p:nvSpPr>
            <p:cNvPr id="44040" name="Text Box 9">
              <a:extLst>
                <a:ext uri="{FF2B5EF4-FFF2-40B4-BE49-F238E27FC236}">
                  <a16:creationId xmlns:a16="http://schemas.microsoft.com/office/drawing/2014/main" id="{D84187FB-260F-4C74-0A36-08D64B6BD5B2}"/>
                </a:ext>
              </a:extLst>
            </p:cNvPr>
            <p:cNvSpPr txBox="1">
              <a:spLocks noChangeArrowheads="1"/>
            </p:cNvSpPr>
            <p:nvPr/>
          </p:nvSpPr>
          <p:spPr bwMode="auto">
            <a:xfrm>
              <a:off x="3903" y="1173"/>
              <a:ext cx="430"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1" name="Text Box 10">
              <a:extLst>
                <a:ext uri="{FF2B5EF4-FFF2-40B4-BE49-F238E27FC236}">
                  <a16:creationId xmlns:a16="http://schemas.microsoft.com/office/drawing/2014/main" id="{B322A2F6-263A-64BF-C0D7-65EE6A495A00}"/>
                </a:ext>
              </a:extLst>
            </p:cNvPr>
            <p:cNvSpPr txBox="1">
              <a:spLocks noChangeArrowheads="1"/>
            </p:cNvSpPr>
            <p:nvPr/>
          </p:nvSpPr>
          <p:spPr bwMode="auto">
            <a:xfrm>
              <a:off x="3906" y="1545"/>
              <a:ext cx="387"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2" name="Text Box 11">
              <a:extLst>
                <a:ext uri="{FF2B5EF4-FFF2-40B4-BE49-F238E27FC236}">
                  <a16:creationId xmlns:a16="http://schemas.microsoft.com/office/drawing/2014/main" id="{DD55CC88-8080-5003-29E8-68BDEF4DD1A8}"/>
                </a:ext>
              </a:extLst>
            </p:cNvPr>
            <p:cNvSpPr txBox="1">
              <a:spLocks noChangeArrowheads="1"/>
            </p:cNvSpPr>
            <p:nvPr/>
          </p:nvSpPr>
          <p:spPr bwMode="auto">
            <a:xfrm>
              <a:off x="3912" y="1893"/>
              <a:ext cx="387"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3" name="Text Box 12">
              <a:extLst>
                <a:ext uri="{FF2B5EF4-FFF2-40B4-BE49-F238E27FC236}">
                  <a16:creationId xmlns:a16="http://schemas.microsoft.com/office/drawing/2014/main" id="{A09F6A7E-C012-72EB-40E8-6037EE237AB8}"/>
                </a:ext>
              </a:extLst>
            </p:cNvPr>
            <p:cNvSpPr txBox="1">
              <a:spLocks noChangeArrowheads="1"/>
            </p:cNvSpPr>
            <p:nvPr/>
          </p:nvSpPr>
          <p:spPr bwMode="auto">
            <a:xfrm>
              <a:off x="3915" y="2265"/>
              <a:ext cx="386"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4" name="Text Box 13">
              <a:extLst>
                <a:ext uri="{FF2B5EF4-FFF2-40B4-BE49-F238E27FC236}">
                  <a16:creationId xmlns:a16="http://schemas.microsoft.com/office/drawing/2014/main" id="{575FF7DB-9D3A-ADE0-19C5-CF22E6067324}"/>
                </a:ext>
              </a:extLst>
            </p:cNvPr>
            <p:cNvSpPr txBox="1">
              <a:spLocks noChangeArrowheads="1"/>
            </p:cNvSpPr>
            <p:nvPr/>
          </p:nvSpPr>
          <p:spPr bwMode="auto">
            <a:xfrm>
              <a:off x="3912" y="2625"/>
              <a:ext cx="387"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5" name="Text Box 14">
              <a:extLst>
                <a:ext uri="{FF2B5EF4-FFF2-40B4-BE49-F238E27FC236}">
                  <a16:creationId xmlns:a16="http://schemas.microsoft.com/office/drawing/2014/main" id="{BD1830AE-28D1-9456-B554-4FA072BB9E3C}"/>
                </a:ext>
              </a:extLst>
            </p:cNvPr>
            <p:cNvSpPr txBox="1">
              <a:spLocks noChangeArrowheads="1"/>
            </p:cNvSpPr>
            <p:nvPr/>
          </p:nvSpPr>
          <p:spPr bwMode="auto">
            <a:xfrm>
              <a:off x="3915" y="2967"/>
              <a:ext cx="374"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6" name="Text Box 15">
              <a:extLst>
                <a:ext uri="{FF2B5EF4-FFF2-40B4-BE49-F238E27FC236}">
                  <a16:creationId xmlns:a16="http://schemas.microsoft.com/office/drawing/2014/main" id="{D89157D2-527B-E3B4-EB46-6D7087867ECF}"/>
                </a:ext>
              </a:extLst>
            </p:cNvPr>
            <p:cNvSpPr txBox="1">
              <a:spLocks noChangeArrowheads="1"/>
            </p:cNvSpPr>
            <p:nvPr/>
          </p:nvSpPr>
          <p:spPr bwMode="auto">
            <a:xfrm>
              <a:off x="3915" y="3333"/>
              <a:ext cx="410"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sp>
          <p:nvSpPr>
            <p:cNvPr id="44047" name="Text Box 16">
              <a:extLst>
                <a:ext uri="{FF2B5EF4-FFF2-40B4-BE49-F238E27FC236}">
                  <a16:creationId xmlns:a16="http://schemas.microsoft.com/office/drawing/2014/main" id="{0BFE17B8-29C7-7C2F-7575-DB9BB840B1F5}"/>
                </a:ext>
              </a:extLst>
            </p:cNvPr>
            <p:cNvSpPr txBox="1">
              <a:spLocks noChangeArrowheads="1"/>
            </p:cNvSpPr>
            <p:nvPr/>
          </p:nvSpPr>
          <p:spPr bwMode="auto">
            <a:xfrm>
              <a:off x="3912" y="3687"/>
              <a:ext cx="373" cy="212"/>
            </a:xfrm>
            <a:prstGeom prst="rect">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xyz</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418C61BD-3D2C-9FF1-8753-69CACC679464}"/>
              </a:ext>
            </a:extLst>
          </p:cNvPr>
          <p:cNvSpPr>
            <a:spLocks noGrp="1" noChangeArrowheads="1"/>
          </p:cNvSpPr>
          <p:nvPr>
            <p:ph type="title"/>
          </p:nvPr>
        </p:nvSpPr>
        <p:spPr>
          <a:xfrm>
            <a:off x="990600" y="152400"/>
            <a:ext cx="7497763" cy="1143000"/>
          </a:xfrm>
        </p:spPr>
        <p:txBody>
          <a:bodyPr/>
          <a:lstStyle/>
          <a:p>
            <a:pPr eaLnBrk="1" fontAlgn="auto" hangingPunct="1">
              <a:spcAft>
                <a:spcPts val="0"/>
              </a:spcAft>
              <a:defRPr/>
            </a:pPr>
            <a:r>
              <a:rPr lang="en-US" dirty="0">
                <a:solidFill>
                  <a:schemeClr val="tx2">
                    <a:satMod val="130000"/>
                  </a:schemeClr>
                </a:solidFill>
              </a:rPr>
              <a:t>Implementing 4x16 Decoder</a:t>
            </a:r>
          </a:p>
        </p:txBody>
      </p:sp>
      <p:pic>
        <p:nvPicPr>
          <p:cNvPr id="45059" name="Picture 3">
            <a:extLst>
              <a:ext uri="{FF2B5EF4-FFF2-40B4-BE49-F238E27FC236}">
                <a16:creationId xmlns:a16="http://schemas.microsoft.com/office/drawing/2014/main" id="{0CE1C016-0E76-28BB-C4CE-8A53825AE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95400"/>
            <a:ext cx="7010400"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04D3BB9D-921A-566D-9B5E-E0D70FBEDF0B}"/>
              </a:ext>
            </a:extLst>
          </p:cNvPr>
          <p:cNvSpPr>
            <a:spLocks noGrp="1" noChangeArrowheads="1"/>
          </p:cNvSpPr>
          <p:nvPr>
            <p:ph type="title"/>
          </p:nvPr>
        </p:nvSpPr>
        <p:spPr>
          <a:xfrm>
            <a:off x="990600" y="274638"/>
            <a:ext cx="7497763" cy="1143000"/>
          </a:xfrm>
        </p:spPr>
        <p:txBody>
          <a:bodyPr>
            <a:normAutofit fontScale="90000"/>
          </a:bodyPr>
          <a:lstStyle/>
          <a:p>
            <a:pPr eaLnBrk="1" fontAlgn="auto" hangingPunct="1">
              <a:spcAft>
                <a:spcPts val="0"/>
              </a:spcAft>
              <a:defRPr/>
            </a:pPr>
            <a:r>
              <a:rPr lang="en-US" sz="4000" dirty="0">
                <a:solidFill>
                  <a:schemeClr val="tx2">
                    <a:satMod val="130000"/>
                  </a:schemeClr>
                </a:solidFill>
              </a:rPr>
              <a:t>Combinational Logic Implementation</a:t>
            </a:r>
          </a:p>
        </p:txBody>
      </p:sp>
      <p:sp>
        <p:nvSpPr>
          <p:cNvPr id="47107" name="Rectangle 3">
            <a:extLst>
              <a:ext uri="{FF2B5EF4-FFF2-40B4-BE49-F238E27FC236}">
                <a16:creationId xmlns:a16="http://schemas.microsoft.com/office/drawing/2014/main" id="{BE605DBA-C244-122F-1464-44D18C7FA9DD}"/>
              </a:ext>
            </a:extLst>
          </p:cNvPr>
          <p:cNvSpPr>
            <a:spLocks noGrp="1" noChangeArrowheads="1"/>
          </p:cNvSpPr>
          <p:nvPr>
            <p:ph type="body" idx="1"/>
          </p:nvPr>
        </p:nvSpPr>
        <p:spPr>
          <a:xfrm>
            <a:off x="1066800" y="1447800"/>
            <a:ext cx="7867650" cy="2971800"/>
          </a:xfrm>
        </p:spPr>
        <p:txBody>
          <a:bodyPr/>
          <a:lstStyle/>
          <a:p>
            <a:pPr eaLnBrk="1" hangingPunct="1">
              <a:buClr>
                <a:schemeClr val="tx2"/>
              </a:buClr>
            </a:pPr>
            <a:r>
              <a:rPr lang="en-US" altLang="en-US" sz="2000" b="1"/>
              <a:t>Any function can be represented by sum of minterms and since a decoder represents minterms, it is possible to use the decoder and external OR gates to form logical sums.</a:t>
            </a:r>
          </a:p>
          <a:p>
            <a:pPr lvl="1" eaLnBrk="1" hangingPunct="1"/>
            <a:r>
              <a:rPr lang="en-US" altLang="en-US" sz="2000" b="1"/>
              <a:t>Any combinational circuit with n inputs and m outputs can be implemented by a </a:t>
            </a:r>
            <a:r>
              <a:rPr lang="en-US" altLang="en-US" sz="2000" b="1" i="1"/>
              <a:t>n</a:t>
            </a:r>
            <a:r>
              <a:rPr lang="en-US" altLang="en-US" sz="2000" b="1"/>
              <a:t> - to-2</a:t>
            </a:r>
            <a:r>
              <a:rPr lang="en-US" altLang="en-US" sz="2000" b="1" i="1" baseline="30000"/>
              <a:t>n</a:t>
            </a:r>
            <a:r>
              <a:rPr lang="en-US" altLang="en-US" sz="2000" b="1"/>
              <a:t>-line decoder and </a:t>
            </a:r>
            <a:r>
              <a:rPr lang="en-US" altLang="en-US" sz="2000" b="1" i="1"/>
              <a:t>m</a:t>
            </a:r>
            <a:r>
              <a:rPr lang="en-US" altLang="en-US" sz="2000" b="1"/>
              <a:t> OR gates.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9E09CE11-CB05-7704-82B1-CD859E75A3B0}"/>
              </a:ext>
            </a:extLst>
          </p:cNvPr>
          <p:cNvSpPr>
            <a:spLocks noGrp="1" noChangeArrowheads="1"/>
          </p:cNvSpPr>
          <p:nvPr>
            <p:ph type="title"/>
          </p:nvPr>
        </p:nvSpPr>
        <p:spPr>
          <a:xfrm>
            <a:off x="990600" y="274638"/>
            <a:ext cx="7497763" cy="1143000"/>
          </a:xfrm>
        </p:spPr>
        <p:txBody>
          <a:bodyPr>
            <a:normAutofit fontScale="90000"/>
          </a:bodyPr>
          <a:lstStyle/>
          <a:p>
            <a:pPr eaLnBrk="1" fontAlgn="auto" hangingPunct="1">
              <a:spcAft>
                <a:spcPts val="0"/>
              </a:spcAft>
              <a:defRPr/>
            </a:pPr>
            <a:r>
              <a:rPr lang="en-US" sz="4000" dirty="0">
                <a:solidFill>
                  <a:schemeClr val="tx2">
                    <a:satMod val="130000"/>
                  </a:schemeClr>
                </a:solidFill>
              </a:rPr>
              <a:t>Implementing a Full Adder With a Decoder</a:t>
            </a:r>
          </a:p>
        </p:txBody>
      </p:sp>
      <p:sp>
        <p:nvSpPr>
          <p:cNvPr id="48131" name="Rectangle 3">
            <a:extLst>
              <a:ext uri="{FF2B5EF4-FFF2-40B4-BE49-F238E27FC236}">
                <a16:creationId xmlns:a16="http://schemas.microsoft.com/office/drawing/2014/main" id="{164A19C9-6EBE-413D-52EF-9168670158A2}"/>
              </a:ext>
            </a:extLst>
          </p:cNvPr>
          <p:cNvSpPr>
            <a:spLocks noGrp="1" noChangeArrowheads="1"/>
          </p:cNvSpPr>
          <p:nvPr>
            <p:ph type="body" idx="1"/>
          </p:nvPr>
        </p:nvSpPr>
        <p:spPr>
          <a:xfrm>
            <a:off x="990600" y="1600200"/>
            <a:ext cx="7497763" cy="4800600"/>
          </a:xfrm>
        </p:spPr>
        <p:txBody>
          <a:bodyPr/>
          <a:lstStyle/>
          <a:p>
            <a:pPr eaLnBrk="1" hangingPunct="1">
              <a:buClr>
                <a:schemeClr val="tx2"/>
              </a:buClr>
            </a:pPr>
            <a:r>
              <a:rPr lang="en-US" altLang="en-US" sz="2000" b="1"/>
              <a:t>Remember that full adder has two outputs, the sum and the carry:</a:t>
            </a:r>
          </a:p>
          <a:p>
            <a:pPr lvl="1" eaLnBrk="1" hangingPunct="1"/>
            <a:r>
              <a:rPr lang="en-US" altLang="en-US" sz="2000" b="1"/>
              <a:t>S(x, y, z) = (1, 2, 4, 7)</a:t>
            </a:r>
          </a:p>
          <a:p>
            <a:pPr lvl="1" eaLnBrk="1" hangingPunct="1"/>
            <a:r>
              <a:rPr lang="en-US" altLang="en-US" sz="2000" b="1"/>
              <a:t>C(x, y, z) = (3, 5, 6, 7)</a:t>
            </a:r>
          </a:p>
        </p:txBody>
      </p:sp>
      <p:pic>
        <p:nvPicPr>
          <p:cNvPr id="48132" name="Picture 4" descr="FullAdderWithDecoder">
            <a:extLst>
              <a:ext uri="{FF2B5EF4-FFF2-40B4-BE49-F238E27FC236}">
                <a16:creationId xmlns:a16="http://schemas.microsoft.com/office/drawing/2014/main" id="{A20C96FB-6E9E-C9F8-D405-3D5B5E07D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6925" y="3216275"/>
            <a:ext cx="5400675"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CCB1B76E-185B-42BA-7678-D04940BEE1A1}"/>
              </a:ext>
            </a:extLst>
          </p:cNvPr>
          <p:cNvSpPr>
            <a:spLocks noGrp="1" noChangeArrowheads="1"/>
          </p:cNvSpPr>
          <p:nvPr>
            <p:ph type="title"/>
          </p:nvPr>
        </p:nvSpPr>
        <p:spPr>
          <a:xfrm>
            <a:off x="1036638" y="274638"/>
            <a:ext cx="7497762" cy="1143000"/>
          </a:xfrm>
        </p:spPr>
        <p:txBody>
          <a:bodyPr/>
          <a:lstStyle/>
          <a:p>
            <a:pPr eaLnBrk="1" fontAlgn="auto" hangingPunct="1">
              <a:spcAft>
                <a:spcPts val="0"/>
              </a:spcAft>
              <a:defRPr/>
            </a:pPr>
            <a:r>
              <a:rPr lang="en-US" dirty="0">
                <a:solidFill>
                  <a:schemeClr val="tx2">
                    <a:satMod val="130000"/>
                  </a:schemeClr>
                </a:solidFill>
              </a:rPr>
              <a:t>Encoders</a:t>
            </a:r>
          </a:p>
        </p:txBody>
      </p:sp>
      <p:sp>
        <p:nvSpPr>
          <p:cNvPr id="49155" name="Rectangle 3">
            <a:extLst>
              <a:ext uri="{FF2B5EF4-FFF2-40B4-BE49-F238E27FC236}">
                <a16:creationId xmlns:a16="http://schemas.microsoft.com/office/drawing/2014/main" id="{20CDD731-172B-ECF2-002D-D6EF041C8F45}"/>
              </a:ext>
            </a:extLst>
          </p:cNvPr>
          <p:cNvSpPr>
            <a:spLocks noGrp="1" noChangeArrowheads="1"/>
          </p:cNvSpPr>
          <p:nvPr>
            <p:ph type="body" idx="1"/>
          </p:nvPr>
        </p:nvSpPr>
        <p:spPr>
          <a:xfrm>
            <a:off x="1036638" y="1600200"/>
            <a:ext cx="7650162" cy="2209800"/>
          </a:xfrm>
        </p:spPr>
        <p:txBody>
          <a:bodyPr/>
          <a:lstStyle/>
          <a:p>
            <a:pPr eaLnBrk="1" hangingPunct="1">
              <a:buClr>
                <a:schemeClr val="tx2"/>
              </a:buClr>
            </a:pPr>
            <a:r>
              <a:rPr lang="en-US" altLang="en-US" sz="2000" b="1"/>
              <a:t>An </a:t>
            </a:r>
            <a:r>
              <a:rPr lang="en-US" altLang="en-US" sz="2000" b="1">
                <a:solidFill>
                  <a:srgbClr val="FF5050"/>
                </a:solidFill>
              </a:rPr>
              <a:t>encoder</a:t>
            </a:r>
            <a:r>
              <a:rPr lang="en-US" altLang="en-US" sz="2000" b="1"/>
              <a:t> is a circuit that performs the inverse operation of a decoder.</a:t>
            </a:r>
          </a:p>
          <a:p>
            <a:pPr lvl="1" eaLnBrk="1" hangingPunct="1"/>
            <a:r>
              <a:rPr lang="en-US" altLang="en-US" sz="2000" b="1"/>
              <a:t>It has 2</a:t>
            </a:r>
            <a:r>
              <a:rPr lang="en-US" altLang="en-US" sz="2000" b="1" baseline="30000"/>
              <a:t>n</a:t>
            </a:r>
            <a:r>
              <a:rPr lang="en-US" altLang="en-US" sz="2000" b="1"/>
              <a:t> (or fewer) input lines and n output lines.</a:t>
            </a:r>
          </a:p>
          <a:p>
            <a:pPr lvl="1" eaLnBrk="1" hangingPunct="1"/>
            <a:r>
              <a:rPr lang="en-US" altLang="en-US" sz="2000" b="1"/>
              <a:t>The output lines generate the binary code corresponding to the input value.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F8E3-FD1B-C64C-23F2-11DE11422EA2}"/>
              </a:ext>
            </a:extLst>
          </p:cNvPr>
          <p:cNvSpPr>
            <a:spLocks noGrp="1"/>
          </p:cNvSpPr>
          <p:nvPr>
            <p:ph type="title"/>
          </p:nvPr>
        </p:nvSpPr>
        <p:spPr/>
        <p:txBody>
          <a:bodyPr/>
          <a:lstStyle/>
          <a:p>
            <a:pPr eaLnBrk="1" hangingPunct="1">
              <a:defRPr/>
            </a:pPr>
            <a:r>
              <a:rPr lang="en-US" dirty="0">
                <a:solidFill>
                  <a:schemeClr val="tx2">
                    <a:satMod val="130000"/>
                  </a:schemeClr>
                </a:solidFill>
              </a:rPr>
              <a:t>Encoders</a:t>
            </a:r>
            <a:endParaRPr lang="en-US" dirty="0"/>
          </a:p>
        </p:txBody>
      </p:sp>
      <p:sp>
        <p:nvSpPr>
          <p:cNvPr id="3" name="Content Placeholder 2">
            <a:extLst>
              <a:ext uri="{FF2B5EF4-FFF2-40B4-BE49-F238E27FC236}">
                <a16:creationId xmlns:a16="http://schemas.microsoft.com/office/drawing/2014/main" id="{0F97A5C5-9827-4DE5-9EDD-E6269F70AA67}"/>
              </a:ext>
            </a:extLst>
          </p:cNvPr>
          <p:cNvSpPr>
            <a:spLocks noGrp="1"/>
          </p:cNvSpPr>
          <p:nvPr>
            <p:ph idx="1"/>
          </p:nvPr>
        </p:nvSpPr>
        <p:spPr>
          <a:xfrm>
            <a:off x="1435100" y="1371600"/>
            <a:ext cx="7499350" cy="4800600"/>
          </a:xfrm>
        </p:spPr>
        <p:txBody>
          <a:bodyPr/>
          <a:lstStyle/>
          <a:p>
            <a:pPr marL="0" indent="0" algn="justLow" eaLnBrk="1" hangingPunct="1">
              <a:spcBef>
                <a:spcPct val="0"/>
              </a:spcBef>
              <a:buClrTx/>
              <a:buSzTx/>
              <a:buFont typeface="Wingdings 2" panose="05020102010507070707" pitchFamily="18" charset="2"/>
              <a:buNone/>
              <a:defRPr/>
            </a:pPr>
            <a:r>
              <a:rPr lang="en-US" dirty="0">
                <a:latin typeface="Arial" panose="020B0604020202020204" pitchFamily="34" charset="0"/>
                <a:cs typeface="Arial" panose="020B0604020202020204" pitchFamily="34" charset="0"/>
              </a:rPr>
              <a:t>4 to 2 Encoder</a:t>
            </a:r>
          </a:p>
          <a:p>
            <a:pPr marL="0" indent="0" algn="justLow">
              <a:spcBef>
                <a:spcPct val="0"/>
              </a:spcBef>
              <a:buClrTx/>
              <a:buSzTx/>
              <a:buFont typeface="Wingdings 2" panose="05020102010507070707" pitchFamily="18" charset="2"/>
              <a:buNone/>
              <a:defRPr/>
            </a:pPr>
            <a:r>
              <a:rPr lang="en-US" sz="2000" dirty="0">
                <a:solidFill>
                  <a:srgbClr val="000000"/>
                </a:solidFill>
                <a:latin typeface="Arial" panose="020B0604020202020204" pitchFamily="34" charset="0"/>
                <a:cs typeface="Arial" panose="020B0604020202020204" pitchFamily="34" charset="0"/>
              </a:rPr>
              <a:t>Let 4 to 2 Encoder has four inputs Y</a:t>
            </a:r>
            <a:r>
              <a:rPr lang="en-US" sz="1200" baseline="-30000" dirty="0">
                <a:solidFill>
                  <a:srgbClr val="000000"/>
                </a:solidFill>
                <a:latin typeface="Arial" panose="020B0604020202020204" pitchFamily="34" charset="0"/>
                <a:cs typeface="Arial" panose="020B0604020202020204" pitchFamily="34" charset="0"/>
              </a:rPr>
              <a:t>3</a:t>
            </a:r>
            <a:r>
              <a:rPr lang="en-US" sz="2000" dirty="0">
                <a:solidFill>
                  <a:srgbClr val="000000"/>
                </a:solidFill>
                <a:latin typeface="Arial" panose="020B0604020202020204" pitchFamily="34" charset="0"/>
                <a:cs typeface="Arial" panose="020B0604020202020204" pitchFamily="34" charset="0"/>
              </a:rPr>
              <a:t>, Y</a:t>
            </a:r>
            <a:r>
              <a:rPr lang="en-US" sz="1200" baseline="-30000" dirty="0">
                <a:solidFill>
                  <a:srgbClr val="000000"/>
                </a:solidFill>
                <a:latin typeface="Arial" panose="020B0604020202020204" pitchFamily="34" charset="0"/>
                <a:cs typeface="Arial" panose="020B0604020202020204" pitchFamily="34" charset="0"/>
              </a:rPr>
              <a:t>2</a:t>
            </a:r>
            <a:r>
              <a:rPr lang="en-US" sz="2000" dirty="0">
                <a:solidFill>
                  <a:srgbClr val="000000"/>
                </a:solidFill>
                <a:latin typeface="Arial" panose="020B0604020202020204" pitchFamily="34" charset="0"/>
                <a:cs typeface="Arial" panose="020B0604020202020204" pitchFamily="34" charset="0"/>
              </a:rPr>
              <a:t>, Y</a:t>
            </a:r>
            <a:r>
              <a:rPr lang="en-US" sz="1200" baseline="-30000" dirty="0">
                <a:solidFill>
                  <a:srgbClr val="000000"/>
                </a:solidFill>
                <a:latin typeface="Arial" panose="020B0604020202020204" pitchFamily="34" charset="0"/>
                <a:cs typeface="Arial" panose="020B0604020202020204" pitchFamily="34" charset="0"/>
              </a:rPr>
              <a:t>1</a:t>
            </a:r>
            <a:r>
              <a:rPr lang="en-US" sz="2000" dirty="0">
                <a:solidFill>
                  <a:srgbClr val="000000"/>
                </a:solidFill>
                <a:cs typeface="Arial" panose="020B0604020202020204" pitchFamily="34" charset="0"/>
              </a:rPr>
              <a:t> </a:t>
            </a:r>
            <a:r>
              <a:rPr lang="en-US" sz="2000" dirty="0">
                <a:solidFill>
                  <a:srgbClr val="000000"/>
                </a:solidFill>
                <a:latin typeface="Arial" panose="020B0604020202020204" pitchFamily="34" charset="0"/>
                <a:cs typeface="Arial" panose="020B0604020202020204" pitchFamily="34" charset="0"/>
              </a:rPr>
              <a:t>&amp; Y</a:t>
            </a:r>
            <a:r>
              <a:rPr lang="en-US" sz="1200" baseline="-30000" dirty="0">
                <a:solidFill>
                  <a:srgbClr val="000000"/>
                </a:solidFill>
                <a:latin typeface="Arial" panose="020B0604020202020204" pitchFamily="34" charset="0"/>
                <a:cs typeface="Arial" panose="020B0604020202020204" pitchFamily="34" charset="0"/>
              </a:rPr>
              <a:t>0</a:t>
            </a:r>
            <a:r>
              <a:rPr lang="en-US" sz="2000" dirty="0">
                <a:solidFill>
                  <a:srgbClr val="000000"/>
                </a:solidFill>
                <a:cs typeface="Arial" panose="020B0604020202020204" pitchFamily="34" charset="0"/>
              </a:rPr>
              <a:t> </a:t>
            </a:r>
            <a:r>
              <a:rPr lang="en-US" sz="2000" dirty="0">
                <a:solidFill>
                  <a:srgbClr val="000000"/>
                </a:solidFill>
                <a:latin typeface="Arial" panose="020B0604020202020204" pitchFamily="34" charset="0"/>
                <a:cs typeface="Arial" panose="020B0604020202020204" pitchFamily="34" charset="0"/>
              </a:rPr>
              <a:t>and two outputs A</a:t>
            </a:r>
            <a:r>
              <a:rPr lang="en-US" sz="1200" baseline="-30000" dirty="0">
                <a:solidFill>
                  <a:srgbClr val="000000"/>
                </a:solidFill>
                <a:latin typeface="Arial" panose="020B0604020202020204" pitchFamily="34" charset="0"/>
                <a:cs typeface="Arial" panose="020B0604020202020204" pitchFamily="34" charset="0"/>
              </a:rPr>
              <a:t>1</a:t>
            </a:r>
            <a:r>
              <a:rPr lang="en-US" sz="2000" dirty="0">
                <a:solidFill>
                  <a:srgbClr val="000000"/>
                </a:solidFill>
                <a:cs typeface="Arial" panose="020B0604020202020204" pitchFamily="34" charset="0"/>
              </a:rPr>
              <a:t> </a:t>
            </a:r>
            <a:r>
              <a:rPr lang="en-US" sz="2000" dirty="0">
                <a:solidFill>
                  <a:srgbClr val="000000"/>
                </a:solidFill>
                <a:latin typeface="Arial" panose="020B0604020202020204" pitchFamily="34" charset="0"/>
                <a:cs typeface="Arial" panose="020B0604020202020204" pitchFamily="34" charset="0"/>
              </a:rPr>
              <a:t>&amp; A</a:t>
            </a:r>
            <a:r>
              <a:rPr lang="en-US" sz="1200" baseline="-30000" dirty="0">
                <a:solidFill>
                  <a:srgbClr val="000000"/>
                </a:solidFill>
                <a:latin typeface="Arial" panose="020B0604020202020204" pitchFamily="34" charset="0"/>
                <a:cs typeface="Arial" panose="020B0604020202020204" pitchFamily="34" charset="0"/>
              </a:rPr>
              <a:t>0</a:t>
            </a:r>
            <a:r>
              <a:rPr lang="en-US" sz="2000" dirty="0">
                <a:solidFill>
                  <a:srgbClr val="000000"/>
                </a:solidFill>
                <a:latin typeface="Arial" panose="020B0604020202020204" pitchFamily="34" charset="0"/>
                <a:cs typeface="Arial" panose="020B0604020202020204" pitchFamily="34" charset="0"/>
              </a:rPr>
              <a:t>. </a:t>
            </a:r>
          </a:p>
          <a:p>
            <a:pPr marL="0" indent="0" algn="justLow">
              <a:spcBef>
                <a:spcPct val="0"/>
              </a:spcBef>
              <a:buClrTx/>
              <a:buSzTx/>
              <a:buFont typeface="Wingdings 2" panose="05020102010507070707" pitchFamily="18" charset="2"/>
              <a:buNone/>
              <a:defRPr/>
            </a:pPr>
            <a:endParaRPr lang="en-US" sz="2000" dirty="0">
              <a:solidFill>
                <a:srgbClr val="000000"/>
              </a:solidFill>
              <a:latin typeface="Arial" panose="020B0604020202020204" pitchFamily="34" charset="0"/>
              <a:cs typeface="Arial" panose="020B0604020202020204" pitchFamily="34" charset="0"/>
            </a:endParaRPr>
          </a:p>
          <a:p>
            <a:pPr marL="0" indent="0" algn="justLow">
              <a:spcBef>
                <a:spcPct val="0"/>
              </a:spcBef>
              <a:buClrTx/>
              <a:buSzTx/>
              <a:buFont typeface="Wingdings 2" panose="05020102010507070707" pitchFamily="18" charset="2"/>
              <a:buNone/>
              <a:defRPr/>
            </a:pPr>
            <a:endParaRPr lang="en-US" dirty="0"/>
          </a:p>
          <a:p>
            <a:pPr marL="0" indent="0" algn="justLow">
              <a:spcBef>
                <a:spcPct val="0"/>
              </a:spcBef>
              <a:buClrTx/>
              <a:buSzTx/>
              <a:buFont typeface="Wingdings 2" panose="05020102010507070707" pitchFamily="18" charset="2"/>
              <a:buNone/>
              <a:defRPr/>
            </a:pPr>
            <a:endParaRPr lang="en-US" sz="11300" dirty="0"/>
          </a:p>
          <a:p>
            <a:pPr marL="0" indent="0" algn="justLow">
              <a:spcBef>
                <a:spcPct val="0"/>
              </a:spcBef>
              <a:buClrTx/>
              <a:buSzTx/>
              <a:buFont typeface="Wingdings 2" panose="05020102010507070707" pitchFamily="18" charset="2"/>
              <a:buNone/>
              <a:defRPr/>
            </a:pPr>
            <a:endParaRPr lang="en-US" sz="2000" dirty="0">
              <a:solidFill>
                <a:srgbClr val="000000"/>
              </a:solidFill>
              <a:latin typeface="Arial" panose="020B0604020202020204" pitchFamily="34" charset="0"/>
              <a:cs typeface="Arial" panose="020B0604020202020204" pitchFamily="34" charset="0"/>
            </a:endParaRPr>
          </a:p>
          <a:p>
            <a:pPr marL="0" indent="0" algn="justLow">
              <a:spcBef>
                <a:spcPct val="0"/>
              </a:spcBef>
              <a:buClrTx/>
              <a:buSzTx/>
              <a:buFont typeface="Wingdings 2" panose="05020102010507070707" pitchFamily="18" charset="2"/>
              <a:buNone/>
              <a:defRPr/>
            </a:pPr>
            <a:r>
              <a:rPr lang="en-US" sz="2000" dirty="0">
                <a:solidFill>
                  <a:srgbClr val="000000"/>
                </a:solidFill>
                <a:latin typeface="Arial" panose="020B0604020202020204" pitchFamily="34" charset="0"/>
                <a:cs typeface="Arial" panose="020B0604020202020204" pitchFamily="34" charset="0"/>
              </a:rPr>
              <a:t>At any time, only one of these 4 inputs can be </a:t>
            </a:r>
            <a:r>
              <a:rPr lang="en-US" sz="2000" dirty="0">
                <a:solidFill>
                  <a:srgbClr val="000000"/>
                </a:solidFill>
                <a:cs typeface="Arial" panose="020B0604020202020204" pitchFamily="34" charset="0"/>
              </a:rPr>
              <a:t>‘</a:t>
            </a:r>
            <a:r>
              <a:rPr lang="en-US" sz="2000" dirty="0">
                <a:solidFill>
                  <a:srgbClr val="000000"/>
                </a:solidFill>
                <a:latin typeface="Arial" panose="020B0604020202020204" pitchFamily="34" charset="0"/>
                <a:cs typeface="Arial" panose="020B0604020202020204" pitchFamily="34" charset="0"/>
              </a:rPr>
              <a:t>1</a:t>
            </a:r>
            <a:r>
              <a:rPr lang="en-US" sz="2000" dirty="0">
                <a:solidFill>
                  <a:srgbClr val="000000"/>
                </a:solidFill>
                <a:cs typeface="Arial" panose="020B0604020202020204" pitchFamily="34" charset="0"/>
              </a:rPr>
              <a:t>’</a:t>
            </a:r>
            <a:r>
              <a:rPr lang="en-US" sz="2000" dirty="0">
                <a:solidFill>
                  <a:srgbClr val="000000"/>
                </a:solidFill>
                <a:latin typeface="Arial" panose="020B0604020202020204" pitchFamily="34" charset="0"/>
                <a:cs typeface="Arial" panose="020B0604020202020204" pitchFamily="34" charset="0"/>
              </a:rPr>
              <a:t> in order to get the respective binary code at the output. </a:t>
            </a:r>
            <a:endParaRPr lang="en-US" sz="2000" dirty="0"/>
          </a:p>
          <a:p>
            <a:pPr marL="0" indent="0" algn="justLow">
              <a:spcBef>
                <a:spcPct val="0"/>
              </a:spcBef>
              <a:buClrTx/>
              <a:buSzTx/>
              <a:buFont typeface="Wingdings 2" panose="05020102010507070707" pitchFamily="18" charset="2"/>
              <a:buNone/>
              <a:defRPr/>
            </a:pPr>
            <a:endParaRPr lang="en-US" sz="2000" dirty="0">
              <a:solidFill>
                <a:srgbClr val="000000"/>
              </a:solidFill>
              <a:latin typeface="Arial" panose="020B0604020202020204" pitchFamily="34" charset="0"/>
              <a:cs typeface="Arial" panose="020B0604020202020204" pitchFamily="34" charset="0"/>
            </a:endParaRPr>
          </a:p>
          <a:p>
            <a:pPr eaLnBrk="1" hangingPunct="1">
              <a:defRPr/>
            </a:pPr>
            <a:endParaRPr lang="en-US" sz="2000" dirty="0"/>
          </a:p>
        </p:txBody>
      </p:sp>
      <p:pic>
        <p:nvPicPr>
          <p:cNvPr id="50180" name="Picture 2" descr="4 to 2 Encoder">
            <a:extLst>
              <a:ext uri="{FF2B5EF4-FFF2-40B4-BE49-F238E27FC236}">
                <a16:creationId xmlns:a16="http://schemas.microsoft.com/office/drawing/2014/main" id="{BC048BAE-C361-AFF3-F1F3-D474DE7E70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257550"/>
            <a:ext cx="5715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2334297-D32B-3186-9AE7-454C53F04CB7}"/>
              </a:ext>
            </a:extLst>
          </p:cNvPr>
          <p:cNvGraphicFramePr>
            <a:graphicFrameLocks noGrp="1"/>
          </p:cNvGraphicFramePr>
          <p:nvPr>
            <p:ph idx="1"/>
          </p:nvPr>
        </p:nvGraphicFramePr>
        <p:xfrm>
          <a:off x="1446213" y="1905000"/>
          <a:ext cx="6305550" cy="2560638"/>
        </p:xfrm>
        <a:graphic>
          <a:graphicData uri="http://schemas.openxmlformats.org/drawingml/2006/table">
            <a:tbl>
              <a:tblPr/>
              <a:tblGrid>
                <a:gridCol w="1050925">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1050925">
                  <a:extLst>
                    <a:ext uri="{9D8B030D-6E8A-4147-A177-3AD203B41FA5}">
                      <a16:colId xmlns:a16="http://schemas.microsoft.com/office/drawing/2014/main" val="20002"/>
                    </a:ext>
                  </a:extLst>
                </a:gridCol>
                <a:gridCol w="1050925">
                  <a:extLst>
                    <a:ext uri="{9D8B030D-6E8A-4147-A177-3AD203B41FA5}">
                      <a16:colId xmlns:a16="http://schemas.microsoft.com/office/drawing/2014/main" val="20003"/>
                    </a:ext>
                  </a:extLst>
                </a:gridCol>
                <a:gridCol w="1050925">
                  <a:extLst>
                    <a:ext uri="{9D8B030D-6E8A-4147-A177-3AD203B41FA5}">
                      <a16:colId xmlns:a16="http://schemas.microsoft.com/office/drawing/2014/main" val="20004"/>
                    </a:ext>
                  </a:extLst>
                </a:gridCol>
                <a:gridCol w="1050925">
                  <a:extLst>
                    <a:ext uri="{9D8B030D-6E8A-4147-A177-3AD203B41FA5}">
                      <a16:colId xmlns:a16="http://schemas.microsoft.com/office/drawing/2014/main" val="20005"/>
                    </a:ext>
                  </a:extLst>
                </a:gridCol>
              </a:tblGrid>
              <a:tr h="426773">
                <a:tc gridSpan="4">
                  <a:txBody>
                    <a:bodyPr/>
                    <a:lstStyle/>
                    <a:p>
                      <a:pPr algn="ctr" fontAlgn="t"/>
                      <a:r>
                        <a:rPr lang="en-US" sz="1800" dirty="0">
                          <a:effectLst/>
                        </a:rPr>
                        <a:t>Inputs</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t"/>
                      <a:r>
                        <a:rPr lang="en-US" sz="1800" dirty="0">
                          <a:effectLst/>
                        </a:rPr>
                        <a:t>Outputs</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n-US"/>
                    </a:p>
                  </a:txBody>
                  <a:tcPr/>
                </a:tc>
                <a:extLst>
                  <a:ext uri="{0D108BD9-81ED-4DB2-BD59-A6C34878D82A}">
                    <a16:rowId xmlns:a16="http://schemas.microsoft.com/office/drawing/2014/main" val="10000"/>
                  </a:ext>
                </a:extLst>
              </a:tr>
              <a:tr h="426773">
                <a:tc>
                  <a:txBody>
                    <a:bodyPr/>
                    <a:lstStyle/>
                    <a:p>
                      <a:pPr fontAlgn="t"/>
                      <a:r>
                        <a:rPr lang="en-US" sz="1800" b="1">
                          <a:effectLst/>
                        </a:rPr>
                        <a:t>Y</a:t>
                      </a:r>
                      <a:r>
                        <a:rPr lang="en-US" sz="1800" b="1" baseline="-25000">
                          <a:effectLst/>
                        </a:rPr>
                        <a:t>3</a:t>
                      </a:r>
                      <a:endParaRPr lang="en-US" sz="1800">
                        <a:effectLst/>
                      </a:endParaRP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b="1">
                          <a:effectLst/>
                        </a:rPr>
                        <a:t>Y</a:t>
                      </a:r>
                      <a:r>
                        <a:rPr lang="en-US" sz="1800" b="1" baseline="-25000">
                          <a:effectLst/>
                        </a:rPr>
                        <a:t>2</a:t>
                      </a:r>
                      <a:endParaRPr lang="en-US" sz="1800">
                        <a:effectLst/>
                      </a:endParaRP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b="1">
                          <a:effectLst/>
                        </a:rPr>
                        <a:t>Y</a:t>
                      </a:r>
                      <a:r>
                        <a:rPr lang="en-US" sz="1800" b="1" baseline="-25000">
                          <a:effectLst/>
                        </a:rPr>
                        <a:t>1</a:t>
                      </a:r>
                      <a:endParaRPr lang="en-US" sz="1800">
                        <a:effectLst/>
                      </a:endParaRP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b="1">
                          <a:effectLst/>
                        </a:rPr>
                        <a:t>Y</a:t>
                      </a:r>
                      <a:r>
                        <a:rPr lang="en-US" sz="1800" b="1" baseline="-25000">
                          <a:effectLst/>
                        </a:rPr>
                        <a:t>0</a:t>
                      </a:r>
                      <a:endParaRPr lang="en-US" sz="1800">
                        <a:effectLst/>
                      </a:endParaRP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b="1">
                          <a:effectLst/>
                        </a:rPr>
                        <a:t>A</a:t>
                      </a:r>
                      <a:r>
                        <a:rPr lang="en-US" sz="1800" b="1" baseline="-25000">
                          <a:effectLst/>
                        </a:rPr>
                        <a:t>1</a:t>
                      </a:r>
                      <a:endParaRPr lang="en-US" sz="1800">
                        <a:effectLst/>
                      </a:endParaRP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b="1">
                          <a:effectLst/>
                        </a:rPr>
                        <a:t>A</a:t>
                      </a:r>
                      <a:r>
                        <a:rPr lang="en-US" sz="1800" b="1" baseline="-25000">
                          <a:effectLst/>
                        </a:rPr>
                        <a:t>0</a:t>
                      </a:r>
                      <a:endParaRPr lang="en-US" sz="1800">
                        <a:effectLst/>
                      </a:endParaRP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6773">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6773">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6773">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6773">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0</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800" dirty="0">
                          <a:effectLst/>
                        </a:rPr>
                        <a:t>1</a:t>
                      </a:r>
                    </a:p>
                  </a:txBody>
                  <a:tcPr marL="76200" marR="76200" marT="76209" marB="762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1249" name="Rectangle 1">
            <a:extLst>
              <a:ext uri="{FF2B5EF4-FFF2-40B4-BE49-F238E27FC236}">
                <a16:creationId xmlns:a16="http://schemas.microsoft.com/office/drawing/2014/main" id="{C4C2F347-E853-A463-40BE-4CF0FB83B709}"/>
              </a:ext>
            </a:extLst>
          </p:cNvPr>
          <p:cNvSpPr>
            <a:spLocks noChangeArrowheads="1"/>
          </p:cNvSpPr>
          <p:nvPr/>
        </p:nvSpPr>
        <p:spPr bwMode="auto">
          <a:xfrm>
            <a:off x="-585788" y="-663575"/>
            <a:ext cx="914400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eaLnBrk="1" hangingPunct="1"/>
            <a:br>
              <a:rPr lang="en-US" altLang="en-US"/>
            </a:br>
            <a:endParaRPr lang="en-US" altLang="en-US"/>
          </a:p>
        </p:txBody>
      </p:sp>
      <p:sp>
        <p:nvSpPr>
          <p:cNvPr id="51250" name="Rectangle 5">
            <a:extLst>
              <a:ext uri="{FF2B5EF4-FFF2-40B4-BE49-F238E27FC236}">
                <a16:creationId xmlns:a16="http://schemas.microsoft.com/office/drawing/2014/main" id="{84AE24F3-6A1F-26B7-A8BE-430502006CEB}"/>
              </a:ext>
            </a:extLst>
          </p:cNvPr>
          <p:cNvSpPr>
            <a:spLocks noChangeArrowheads="1"/>
          </p:cNvSpPr>
          <p:nvPr/>
        </p:nvSpPr>
        <p:spPr bwMode="auto">
          <a:xfrm>
            <a:off x="1436688" y="4876800"/>
            <a:ext cx="6869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anose="020B0502020104020203" pitchFamily="34" charset="0"/>
                <a:cs typeface="Arial" panose="020B0604020202020204" pitchFamily="34" charset="0"/>
              </a:defRPr>
            </a:lvl1pPr>
            <a:lvl2pPr marL="742950" indent="-285750">
              <a:defRPr>
                <a:solidFill>
                  <a:schemeClr val="tx1"/>
                </a:solidFill>
                <a:latin typeface="Gill Sans MT" panose="020B0502020104020203" pitchFamily="34" charset="0"/>
                <a:cs typeface="Arial" panose="020B0604020202020204" pitchFamily="34" charset="0"/>
              </a:defRPr>
            </a:lvl2pPr>
            <a:lvl3pPr marL="1143000" indent="-228600">
              <a:defRPr>
                <a:solidFill>
                  <a:schemeClr val="tx1"/>
                </a:solidFill>
                <a:latin typeface="Gill Sans MT" panose="020B0502020104020203" pitchFamily="34" charset="0"/>
                <a:cs typeface="Arial" panose="020B0604020202020204" pitchFamily="34" charset="0"/>
              </a:defRPr>
            </a:lvl3pPr>
            <a:lvl4pPr marL="1600200" indent="-228600">
              <a:defRPr>
                <a:solidFill>
                  <a:schemeClr val="tx1"/>
                </a:solidFill>
                <a:latin typeface="Gill Sans MT" panose="020B0502020104020203" pitchFamily="34" charset="0"/>
                <a:cs typeface="Arial" panose="020B0604020202020204" pitchFamily="34" charset="0"/>
              </a:defRPr>
            </a:lvl4pPr>
            <a:lvl5pPr marL="2057400" indent="-228600">
              <a:defRPr>
                <a:solidFill>
                  <a:schemeClr val="tx1"/>
                </a:solidFill>
                <a:latin typeface="Gill Sans MT" panose="020B05020201040202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cs typeface="Arial" panose="020B0604020202020204" pitchFamily="34" charset="0"/>
              </a:defRPr>
            </a:lvl9pPr>
          </a:lstStyle>
          <a:p>
            <a:pPr algn="justLow"/>
            <a:r>
              <a:rPr lang="en-US" altLang="en-US">
                <a:solidFill>
                  <a:srgbClr val="000000"/>
                </a:solidFill>
                <a:latin typeface="Arial" panose="020B0604020202020204" pitchFamily="34" charset="0"/>
              </a:rPr>
              <a:t>At any time, only one of these 4 inputs can be </a:t>
            </a:r>
            <a:r>
              <a:rPr lang="en-US" altLang="en-US">
                <a:solidFill>
                  <a:srgbClr val="000000"/>
                </a:solidFill>
              </a:rPr>
              <a:t>‘</a:t>
            </a:r>
            <a:r>
              <a:rPr lang="en-US" altLang="en-US">
                <a:solidFill>
                  <a:srgbClr val="000000"/>
                </a:solidFill>
                <a:latin typeface="Arial" panose="020B0604020202020204" pitchFamily="34" charset="0"/>
              </a:rPr>
              <a:t>1</a:t>
            </a:r>
            <a:r>
              <a:rPr lang="en-US" altLang="en-US">
                <a:solidFill>
                  <a:srgbClr val="000000"/>
                </a:solidFill>
              </a:rPr>
              <a:t>’</a:t>
            </a:r>
            <a:r>
              <a:rPr lang="en-US" altLang="en-US">
                <a:solidFill>
                  <a:srgbClr val="000000"/>
                </a:solidFill>
                <a:latin typeface="Arial" panose="020B0604020202020204" pitchFamily="34" charset="0"/>
              </a:rPr>
              <a:t> in order to get the respective binary code at the output. </a:t>
            </a:r>
            <a:endParaRPr lang="en-US" altLang="en-US"/>
          </a:p>
        </p:txBody>
      </p:sp>
      <p:sp>
        <p:nvSpPr>
          <p:cNvPr id="7" name="Title 1">
            <a:extLst>
              <a:ext uri="{FF2B5EF4-FFF2-40B4-BE49-F238E27FC236}">
                <a16:creationId xmlns:a16="http://schemas.microsoft.com/office/drawing/2014/main" id="{19A7FE88-64EF-D4A9-B9DA-6EF3EA932458}"/>
              </a:ext>
            </a:extLst>
          </p:cNvPr>
          <p:cNvSpPr>
            <a:spLocks noGrp="1"/>
          </p:cNvSpPr>
          <p:nvPr>
            <p:ph type="title"/>
          </p:nvPr>
        </p:nvSpPr>
        <p:spPr/>
        <p:txBody>
          <a:bodyPr/>
          <a:lstStyle/>
          <a:p>
            <a:pPr eaLnBrk="1" hangingPunct="1">
              <a:defRPr/>
            </a:pPr>
            <a:r>
              <a:rPr lang="en-US" dirty="0">
                <a:solidFill>
                  <a:schemeClr val="tx2">
                    <a:satMod val="130000"/>
                  </a:schemeClr>
                </a:solidFill>
              </a:rPr>
              <a:t>Encoders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7C09A6DF-7C90-4361-C185-DBB7B3151A2B}"/>
              </a:ext>
            </a:extLst>
          </p:cNvPr>
          <p:cNvSpPr>
            <a:spLocks noGrp="1" noChangeArrowheads="1"/>
          </p:cNvSpPr>
          <p:nvPr>
            <p:ph type="title"/>
          </p:nvPr>
        </p:nvSpPr>
        <p:spPr>
          <a:xfrm>
            <a:off x="990600" y="228600"/>
            <a:ext cx="6934200" cy="798513"/>
          </a:xfrm>
        </p:spPr>
        <p:txBody>
          <a:bodyPr/>
          <a:lstStyle/>
          <a:p>
            <a:pPr eaLnBrk="1" fontAlgn="auto" hangingPunct="1">
              <a:spcAft>
                <a:spcPts val="0"/>
              </a:spcAft>
              <a:defRPr/>
            </a:pPr>
            <a:r>
              <a:rPr lang="en-US" dirty="0">
                <a:solidFill>
                  <a:schemeClr val="tx2">
                    <a:satMod val="130000"/>
                  </a:schemeClr>
                </a:solidFill>
              </a:rPr>
              <a:t>Multiplexer</a:t>
            </a:r>
          </a:p>
        </p:txBody>
      </p:sp>
      <p:sp>
        <p:nvSpPr>
          <p:cNvPr id="52227" name="Rectangle 3">
            <a:extLst>
              <a:ext uri="{FF2B5EF4-FFF2-40B4-BE49-F238E27FC236}">
                <a16:creationId xmlns:a16="http://schemas.microsoft.com/office/drawing/2014/main" id="{9A4FFD54-31A1-4F65-9657-5C2A2A8E99F2}"/>
              </a:ext>
            </a:extLst>
          </p:cNvPr>
          <p:cNvSpPr>
            <a:spLocks noGrp="1" noChangeArrowheads="1"/>
          </p:cNvSpPr>
          <p:nvPr>
            <p:ph type="body" idx="1"/>
          </p:nvPr>
        </p:nvSpPr>
        <p:spPr>
          <a:xfrm>
            <a:off x="979488" y="1143000"/>
            <a:ext cx="7935912" cy="3733800"/>
          </a:xfrm>
        </p:spPr>
        <p:txBody>
          <a:bodyPr/>
          <a:lstStyle/>
          <a:p>
            <a:pPr eaLnBrk="1" hangingPunct="1">
              <a:buClr>
                <a:schemeClr val="tx2"/>
              </a:buClr>
            </a:pPr>
            <a:r>
              <a:rPr lang="en-US" altLang="en-US" sz="2000" b="1"/>
              <a:t>A </a:t>
            </a:r>
            <a:r>
              <a:rPr lang="en-US" altLang="en-US" sz="2000" b="1">
                <a:solidFill>
                  <a:srgbClr val="FF5050"/>
                </a:solidFill>
              </a:rPr>
              <a:t>multiplexer</a:t>
            </a:r>
            <a:r>
              <a:rPr lang="en-US" altLang="en-US" sz="2000" b="1"/>
              <a:t> is a circuit that selects binary information from one of many input lines and directs it to a single output line.</a:t>
            </a:r>
          </a:p>
          <a:p>
            <a:pPr lvl="1" eaLnBrk="1" hangingPunct="1"/>
            <a:r>
              <a:rPr lang="en-US" altLang="en-US" sz="2000" b="1"/>
              <a:t>The selection of a particular input line is controlled by a set of selection lines.</a:t>
            </a:r>
          </a:p>
          <a:p>
            <a:pPr lvl="1" eaLnBrk="1" hangingPunct="1"/>
            <a:r>
              <a:rPr lang="en-US" altLang="en-US" sz="2000" b="1"/>
              <a:t>Normally, there are 2</a:t>
            </a:r>
            <a:r>
              <a:rPr lang="en-US" altLang="en-US" sz="2000" b="1" baseline="30000"/>
              <a:t>n</a:t>
            </a:r>
            <a:r>
              <a:rPr lang="en-US" altLang="en-US" sz="2000" b="1"/>
              <a:t> input lines and n selection lines whose bit combinations determine which input is selected.</a:t>
            </a:r>
          </a:p>
        </p:txBody>
      </p:sp>
      <p:pic>
        <p:nvPicPr>
          <p:cNvPr id="52228" name="Picture 9">
            <a:extLst>
              <a:ext uri="{FF2B5EF4-FFF2-40B4-BE49-F238E27FC236}">
                <a16:creationId xmlns:a16="http://schemas.microsoft.com/office/drawing/2014/main" id="{361CD772-6BE2-38E9-83FB-7C0C5058254A}"/>
              </a:ext>
            </a:extLst>
          </p:cNvPr>
          <p:cNvPicPr>
            <a:picLocks noChangeAspect="1" noChangeArrowheads="1"/>
          </p:cNvPicPr>
          <p:nvPr/>
        </p:nvPicPr>
        <p:blipFill>
          <a:blip r:embed="rId2">
            <a:lum bright="-88000" contrast="100000"/>
            <a:extLst>
              <a:ext uri="{28A0092B-C50C-407E-A947-70E740481C1C}">
                <a14:useLocalDpi xmlns:a14="http://schemas.microsoft.com/office/drawing/2010/main" val="0"/>
              </a:ext>
            </a:extLst>
          </a:blip>
          <a:srcRect/>
          <a:stretch>
            <a:fillRect/>
          </a:stretch>
        </p:blipFill>
        <p:spPr bwMode="auto">
          <a:xfrm>
            <a:off x="1279525" y="3505200"/>
            <a:ext cx="7264400" cy="278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879C8373-B6C7-DB27-4D06-BBC8CFFDC5E9}"/>
              </a:ext>
            </a:extLst>
          </p:cNvPr>
          <p:cNvSpPr>
            <a:spLocks noGrp="1" noChangeArrowheads="1"/>
          </p:cNvSpPr>
          <p:nvPr>
            <p:ph type="title"/>
          </p:nvPr>
        </p:nvSpPr>
        <p:spPr>
          <a:xfrm>
            <a:off x="990600" y="274638"/>
            <a:ext cx="7497763" cy="1143000"/>
          </a:xfrm>
        </p:spPr>
        <p:txBody>
          <a:bodyPr/>
          <a:lstStyle/>
          <a:p>
            <a:pPr eaLnBrk="1" fontAlgn="auto" hangingPunct="1">
              <a:spcAft>
                <a:spcPts val="0"/>
              </a:spcAft>
              <a:defRPr/>
            </a:pPr>
            <a:r>
              <a:rPr lang="en-US" dirty="0">
                <a:solidFill>
                  <a:schemeClr val="tx2">
                    <a:satMod val="130000"/>
                  </a:schemeClr>
                </a:solidFill>
              </a:rPr>
              <a:t>4 To 1 Line MUX</a:t>
            </a:r>
          </a:p>
        </p:txBody>
      </p:sp>
      <p:pic>
        <p:nvPicPr>
          <p:cNvPr id="53251" name="Picture 4" descr="4to1LineMUX">
            <a:extLst>
              <a:ext uri="{FF2B5EF4-FFF2-40B4-BE49-F238E27FC236}">
                <a16:creationId xmlns:a16="http://schemas.microsoft.com/office/drawing/2014/main" id="{678ADB06-B035-7FF3-19E4-67562D049A2A}"/>
              </a:ext>
            </a:extLst>
          </p:cNvPr>
          <p:cNvPicPr>
            <a:picLocks noGrp="1" noChangeAspect="1" noChangeArrowheads="1"/>
          </p:cNvPicPr>
          <p:nvPr>
            <p:ph idx="1"/>
          </p:nvPr>
        </p:nvPicPr>
        <p:blipFill>
          <a:blip r:embed="rId2">
            <a:lum bright="-78000" contrast="100000"/>
            <a:extLst>
              <a:ext uri="{28A0092B-C50C-407E-A947-70E740481C1C}">
                <a14:useLocalDpi xmlns:a14="http://schemas.microsoft.com/office/drawing/2010/main" val="0"/>
              </a:ext>
            </a:extLst>
          </a:blip>
          <a:srcRect/>
          <a:stretch>
            <a:fillRect/>
          </a:stretch>
        </p:blipFill>
        <p:spPr>
          <a:xfrm>
            <a:off x="1066800" y="1447800"/>
            <a:ext cx="7543800" cy="4343400"/>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12B343EDAA3954CB2F5A10CCFA1A1FB" ma:contentTypeVersion="0" ma:contentTypeDescription="Create a new document." ma:contentTypeScope="" ma:versionID="55eec26f3d2ab5023c987545493788c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F5FDCB-1E3C-46EC-A718-7C4EF69E3159}">
  <ds:schemaRefs>
    <ds:schemaRef ds:uri="http://schemas.microsoft.com/sharepoint/v3/contenttype/forms"/>
  </ds:schemaRefs>
</ds:datastoreItem>
</file>

<file path=customXml/itemProps2.xml><?xml version="1.0" encoding="utf-8"?>
<ds:datastoreItem xmlns:ds="http://schemas.openxmlformats.org/officeDocument/2006/customXml" ds:itemID="{2301DFEF-00F2-4736-9E46-E5AF00D725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Solstice</Template>
  <TotalTime>240</TotalTime>
  <Words>2027</Words>
  <Application>Microsoft Office PowerPoint</Application>
  <PresentationFormat>On-screen Show (4:3)</PresentationFormat>
  <Paragraphs>325</Paragraphs>
  <Slides>43</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Gill Sans MT</vt:lpstr>
      <vt:lpstr>Arial</vt:lpstr>
      <vt:lpstr>Wingdings 2</vt:lpstr>
      <vt:lpstr>Verdana</vt:lpstr>
      <vt:lpstr>Calibri</vt:lpstr>
      <vt:lpstr>Algerian</vt:lpstr>
      <vt:lpstr>Wingdings</vt:lpstr>
      <vt:lpstr>Times New Roman</vt:lpstr>
      <vt:lpstr>Arial Unicode MS</vt:lpstr>
      <vt:lpstr>Solstice</vt:lpstr>
      <vt:lpstr>Digital Logic Design </vt:lpstr>
      <vt:lpstr>PowerPoint Presentation</vt:lpstr>
      <vt:lpstr>Combinational vs. Sequential</vt:lpstr>
      <vt:lpstr>Combinational Circuits</vt:lpstr>
      <vt:lpstr>Notes on Combinational Circuits</vt:lpstr>
      <vt:lpstr>Integrated Circuits</vt:lpstr>
      <vt:lpstr>Analysis Procedure</vt:lpstr>
      <vt:lpstr>Obtaining Boolean Functions</vt:lpstr>
      <vt:lpstr>An Example</vt:lpstr>
      <vt:lpstr>Example Continued</vt:lpstr>
      <vt:lpstr> Determining a Truth Table</vt:lpstr>
      <vt:lpstr>Example Truth Table</vt:lpstr>
      <vt:lpstr>Design Procedure</vt:lpstr>
      <vt:lpstr>Simplification</vt:lpstr>
      <vt:lpstr>Design Examples</vt:lpstr>
      <vt:lpstr>Design Examples(Cont.)</vt:lpstr>
      <vt:lpstr>Design Examples(Cont.)</vt:lpstr>
      <vt:lpstr>Design Examples(Cont.)</vt:lpstr>
      <vt:lpstr>Design Examples(Cont.)</vt:lpstr>
      <vt:lpstr>K-map</vt:lpstr>
      <vt:lpstr>Homework1</vt:lpstr>
      <vt:lpstr>PowerPoint Presentation</vt:lpstr>
      <vt:lpstr>Binary Adder-Subtractor</vt:lpstr>
      <vt:lpstr>Half Adder</vt:lpstr>
      <vt:lpstr>Half Adder Circuit</vt:lpstr>
      <vt:lpstr>Full Adder</vt:lpstr>
      <vt:lpstr>Full Adder (SOP)</vt:lpstr>
      <vt:lpstr>Binary Adder</vt:lpstr>
      <vt:lpstr>Binary Adder</vt:lpstr>
      <vt:lpstr>Binary Subtractor</vt:lpstr>
      <vt:lpstr>Binary Subtractor</vt:lpstr>
      <vt:lpstr>Adder Subtractor</vt:lpstr>
      <vt:lpstr>Overflow</vt:lpstr>
      <vt:lpstr>Decoders</vt:lpstr>
      <vt:lpstr>3-to-8 Line Decoder</vt:lpstr>
      <vt:lpstr>Implementing 4x16 Decoder</vt:lpstr>
      <vt:lpstr>Combinational Logic Implementation</vt:lpstr>
      <vt:lpstr>Implementing a Full Adder With a Decoder</vt:lpstr>
      <vt:lpstr>Encoders</vt:lpstr>
      <vt:lpstr>Encoders</vt:lpstr>
      <vt:lpstr>Encoders</vt:lpstr>
      <vt:lpstr>Multiplexer</vt:lpstr>
      <vt:lpstr>4 To 1 Line MUX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 Design</dc:title>
  <dc:creator>Hayat</dc:creator>
  <cp:lastModifiedBy>فيصل مروان عبد الجواد البابا</cp:lastModifiedBy>
  <cp:revision>34</cp:revision>
  <dcterms:created xsi:type="dcterms:W3CDTF">2006-08-16T00:00:00Z</dcterms:created>
  <dcterms:modified xsi:type="dcterms:W3CDTF">2025-12-25T14:42:30Z</dcterms:modified>
</cp:coreProperties>
</file>